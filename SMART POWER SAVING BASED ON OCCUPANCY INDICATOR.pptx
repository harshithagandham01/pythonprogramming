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5"/>
  </p:notesMasterIdLst>
  <p:sldIdLst>
    <p:sldId id="256" r:id="rId5"/>
    <p:sldId id="274" r:id="rId6"/>
    <p:sldId id="258" r:id="rId7"/>
    <p:sldId id="259" r:id="rId8"/>
    <p:sldId id="261" r:id="rId9"/>
    <p:sldId id="271" r:id="rId10"/>
    <p:sldId id="272" r:id="rId11"/>
    <p:sldId id="262" r:id="rId12"/>
    <p:sldId id="263" r:id="rId13"/>
    <p:sldId id="264" r:id="rId14"/>
    <p:sldId id="270" r:id="rId15"/>
    <p:sldId id="265" r:id="rId16"/>
    <p:sldId id="268" r:id="rId17"/>
    <p:sldId id="275" r:id="rId18"/>
    <p:sldId id="276" r:id="rId19"/>
    <p:sldId id="277" r:id="rId20"/>
    <p:sldId id="273" r:id="rId21"/>
    <p:sldId id="278" r:id="rId22"/>
    <p:sldId id="267" r:id="rId23"/>
    <p:sldId id="266"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varScale="1">
        <p:scale>
          <a:sx n="66" d="100"/>
          <a:sy n="66" d="100"/>
        </p:scale>
        <p:origin x="544" y="4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 HARSHITHA" userId="3bb1514de0ed0840" providerId="LiveId" clId="{04F199D3-6BD6-4083-8983-43213C8E80D2}"/>
    <pc:docChg chg="undo custSel addSld modSld">
      <pc:chgData name="G HARSHITHA" userId="3bb1514de0ed0840" providerId="LiveId" clId="{04F199D3-6BD6-4083-8983-43213C8E80D2}" dt="2022-05-08T18:11:00.550" v="914" actId="113"/>
      <pc:docMkLst>
        <pc:docMk/>
      </pc:docMkLst>
      <pc:sldChg chg="modSp mod">
        <pc:chgData name="G HARSHITHA" userId="3bb1514de0ed0840" providerId="LiveId" clId="{04F199D3-6BD6-4083-8983-43213C8E80D2}" dt="2022-05-08T13:04:50.649" v="2" actId="255"/>
        <pc:sldMkLst>
          <pc:docMk/>
          <pc:sldMk cId="1876844362" sldId="273"/>
        </pc:sldMkLst>
        <pc:spChg chg="mod">
          <ac:chgData name="G HARSHITHA" userId="3bb1514de0ed0840" providerId="LiveId" clId="{04F199D3-6BD6-4083-8983-43213C8E80D2}" dt="2022-05-08T13:04:50.649" v="2" actId="255"/>
          <ac:spMkLst>
            <pc:docMk/>
            <pc:sldMk cId="1876844362" sldId="273"/>
            <ac:spMk id="3" creationId="{EB8A2333-E174-5563-4F7E-55A8CC68514A}"/>
          </ac:spMkLst>
        </pc:spChg>
      </pc:sldChg>
      <pc:sldChg chg="addSp delSp modSp new mod">
        <pc:chgData name="G HARSHITHA" userId="3bb1514de0ed0840" providerId="LiveId" clId="{04F199D3-6BD6-4083-8983-43213C8E80D2}" dt="2022-05-08T14:18:32.460" v="872" actId="14100"/>
        <pc:sldMkLst>
          <pc:docMk/>
          <pc:sldMk cId="2208749784" sldId="275"/>
        </pc:sldMkLst>
        <pc:spChg chg="del mod">
          <ac:chgData name="G HARSHITHA" userId="3bb1514de0ed0840" providerId="LiveId" clId="{04F199D3-6BD6-4083-8983-43213C8E80D2}" dt="2022-05-08T13:22:10.625" v="5" actId="478"/>
          <ac:spMkLst>
            <pc:docMk/>
            <pc:sldMk cId="2208749784" sldId="275"/>
            <ac:spMk id="2" creationId="{05B11586-0131-8892-5C15-6D70AABD61C9}"/>
          </ac:spMkLst>
        </pc:spChg>
        <pc:spChg chg="del mod">
          <ac:chgData name="G HARSHITHA" userId="3bb1514de0ed0840" providerId="LiveId" clId="{04F199D3-6BD6-4083-8983-43213C8E80D2}" dt="2022-05-08T13:22:15.952" v="7" actId="478"/>
          <ac:spMkLst>
            <pc:docMk/>
            <pc:sldMk cId="2208749784" sldId="275"/>
            <ac:spMk id="3" creationId="{7DA30C70-DEF3-2F49-74DE-F5B130C255AD}"/>
          </ac:spMkLst>
        </pc:spChg>
        <pc:spChg chg="add mod">
          <ac:chgData name="G HARSHITHA" userId="3bb1514de0ed0840" providerId="LiveId" clId="{04F199D3-6BD6-4083-8983-43213C8E80D2}" dt="2022-05-08T14:18:32.460" v="872" actId="14100"/>
          <ac:spMkLst>
            <pc:docMk/>
            <pc:sldMk cId="2208749784" sldId="275"/>
            <ac:spMk id="5" creationId="{4D01D501-0DB2-D2CE-BD29-396E9390873E}"/>
          </ac:spMkLst>
        </pc:spChg>
        <pc:spChg chg="add mod">
          <ac:chgData name="G HARSHITHA" userId="3bb1514de0ed0840" providerId="LiveId" clId="{04F199D3-6BD6-4083-8983-43213C8E80D2}" dt="2022-05-08T13:36:02.778" v="249" actId="1076"/>
          <ac:spMkLst>
            <pc:docMk/>
            <pc:sldMk cId="2208749784" sldId="275"/>
            <ac:spMk id="6" creationId="{2D6FBFDE-D516-0680-F30D-045301B15E63}"/>
          </ac:spMkLst>
        </pc:spChg>
        <pc:graphicFrameChg chg="add mod modGraphic">
          <ac:chgData name="G HARSHITHA" userId="3bb1514de0ed0840" providerId="LiveId" clId="{04F199D3-6BD6-4083-8983-43213C8E80D2}" dt="2022-05-08T14:16:36.410" v="864" actId="14100"/>
          <ac:graphicFrameMkLst>
            <pc:docMk/>
            <pc:sldMk cId="2208749784" sldId="275"/>
            <ac:graphicFrameMk id="4" creationId="{A736554B-F572-A157-D153-DEA9AD359C79}"/>
          </ac:graphicFrameMkLst>
        </pc:graphicFrameChg>
      </pc:sldChg>
      <pc:sldChg chg="addSp delSp modSp new mod">
        <pc:chgData name="G HARSHITHA" userId="3bb1514de0ed0840" providerId="LiveId" clId="{04F199D3-6BD6-4083-8983-43213C8E80D2}" dt="2022-05-08T14:02:16.311" v="631" actId="14100"/>
        <pc:sldMkLst>
          <pc:docMk/>
          <pc:sldMk cId="3804552141" sldId="276"/>
        </pc:sldMkLst>
        <pc:spChg chg="mod">
          <ac:chgData name="G HARSHITHA" userId="3bb1514de0ed0840" providerId="LiveId" clId="{04F199D3-6BD6-4083-8983-43213C8E80D2}" dt="2022-05-08T13:54:37.061" v="479" actId="14100"/>
          <ac:spMkLst>
            <pc:docMk/>
            <pc:sldMk cId="3804552141" sldId="276"/>
            <ac:spMk id="2" creationId="{3DD6A307-C12D-D2FA-C586-65ADE010495F}"/>
          </ac:spMkLst>
        </pc:spChg>
        <pc:spChg chg="del mod">
          <ac:chgData name="G HARSHITHA" userId="3bb1514de0ed0840" providerId="LiveId" clId="{04F199D3-6BD6-4083-8983-43213C8E80D2}" dt="2022-05-08T13:53:31.119" v="468" actId="478"/>
          <ac:spMkLst>
            <pc:docMk/>
            <pc:sldMk cId="3804552141" sldId="276"/>
            <ac:spMk id="3" creationId="{DB8B9ACF-2427-25DE-E429-56B9793256C7}"/>
          </ac:spMkLst>
        </pc:spChg>
        <pc:spChg chg="add del mod">
          <ac:chgData name="G HARSHITHA" userId="3bb1514de0ed0840" providerId="LiveId" clId="{04F199D3-6BD6-4083-8983-43213C8E80D2}" dt="2022-05-08T13:54:46.466" v="483" actId="478"/>
          <ac:spMkLst>
            <pc:docMk/>
            <pc:sldMk cId="3804552141" sldId="276"/>
            <ac:spMk id="5" creationId="{A1B6CE3D-F3AF-7778-4A5D-80283209FEB9}"/>
          </ac:spMkLst>
        </pc:spChg>
        <pc:graphicFrameChg chg="add mod modGraphic">
          <ac:chgData name="G HARSHITHA" userId="3bb1514de0ed0840" providerId="LiveId" clId="{04F199D3-6BD6-4083-8983-43213C8E80D2}" dt="2022-05-08T14:02:16.311" v="631" actId="14100"/>
          <ac:graphicFrameMkLst>
            <pc:docMk/>
            <pc:sldMk cId="3804552141" sldId="276"/>
            <ac:graphicFrameMk id="6" creationId="{B12BFD5A-AA13-E0F8-B12E-EEC7B06D53A4}"/>
          </ac:graphicFrameMkLst>
        </pc:graphicFrameChg>
      </pc:sldChg>
      <pc:sldChg chg="addSp delSp modSp new mod">
        <pc:chgData name="G HARSHITHA" userId="3bb1514de0ed0840" providerId="LiveId" clId="{04F199D3-6BD6-4083-8983-43213C8E80D2}" dt="2022-05-08T14:18:42.417" v="873" actId="1076"/>
        <pc:sldMkLst>
          <pc:docMk/>
          <pc:sldMk cId="11622840" sldId="277"/>
        </pc:sldMkLst>
        <pc:spChg chg="mod">
          <ac:chgData name="G HARSHITHA" userId="3bb1514de0ed0840" providerId="LiveId" clId="{04F199D3-6BD6-4083-8983-43213C8E80D2}" dt="2022-05-08T14:06:43.019" v="703" actId="255"/>
          <ac:spMkLst>
            <pc:docMk/>
            <pc:sldMk cId="11622840" sldId="277"/>
            <ac:spMk id="2" creationId="{0260583E-A3DF-2BED-C912-64CA1273B01B}"/>
          </ac:spMkLst>
        </pc:spChg>
        <pc:spChg chg="del mod">
          <ac:chgData name="G HARSHITHA" userId="3bb1514de0ed0840" providerId="LiveId" clId="{04F199D3-6BD6-4083-8983-43213C8E80D2}" dt="2022-05-08T14:03:10.607" v="644" actId="478"/>
          <ac:spMkLst>
            <pc:docMk/>
            <pc:sldMk cId="11622840" sldId="277"/>
            <ac:spMk id="3" creationId="{DC308257-7DB0-068B-58B9-95ECA83CC017}"/>
          </ac:spMkLst>
        </pc:spChg>
        <pc:graphicFrameChg chg="add mod modGraphic">
          <ac:chgData name="G HARSHITHA" userId="3bb1514de0ed0840" providerId="LiveId" clId="{04F199D3-6BD6-4083-8983-43213C8E80D2}" dt="2022-05-08T14:18:42.417" v="873" actId="1076"/>
          <ac:graphicFrameMkLst>
            <pc:docMk/>
            <pc:sldMk cId="11622840" sldId="277"/>
            <ac:graphicFrameMk id="4" creationId="{41BEDBAB-C35D-C202-20D3-07D1BAE88660}"/>
          </ac:graphicFrameMkLst>
        </pc:graphicFrameChg>
      </pc:sldChg>
      <pc:sldChg chg="modSp new mod">
        <pc:chgData name="G HARSHITHA" userId="3bb1514de0ed0840" providerId="LiveId" clId="{04F199D3-6BD6-4083-8983-43213C8E80D2}" dt="2022-05-08T18:11:00.550" v="914" actId="113"/>
        <pc:sldMkLst>
          <pc:docMk/>
          <pc:sldMk cId="2874891775" sldId="278"/>
        </pc:sldMkLst>
        <pc:spChg chg="mod">
          <ac:chgData name="G HARSHITHA" userId="3bb1514de0ed0840" providerId="LiveId" clId="{04F199D3-6BD6-4083-8983-43213C8E80D2}" dt="2022-05-08T18:07:45.882" v="884" actId="20577"/>
          <ac:spMkLst>
            <pc:docMk/>
            <pc:sldMk cId="2874891775" sldId="278"/>
            <ac:spMk id="2" creationId="{6524B02E-86B4-4BE9-5002-C25372AC436C}"/>
          </ac:spMkLst>
        </pc:spChg>
        <pc:spChg chg="mod">
          <ac:chgData name="G HARSHITHA" userId="3bb1514de0ed0840" providerId="LiveId" clId="{04F199D3-6BD6-4083-8983-43213C8E80D2}" dt="2022-05-08T18:11:00.550" v="914" actId="113"/>
          <ac:spMkLst>
            <pc:docMk/>
            <pc:sldMk cId="2874891775" sldId="278"/>
            <ac:spMk id="3" creationId="{47665D28-322C-46C9-97CF-AE5FE1759E8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E0A0D5-8F98-4CC1-A28E-021F0B6B475C}" type="datetimeFigureOut">
              <a:rPr lang="en-US" smtClean="0"/>
              <a:t>5/9/2022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03C52C-5E29-41AF-BAA3-8217E886DA08}" type="slidenum">
              <a:rPr lang="en-US" smtClean="0"/>
              <a:t>‹#›</a:t>
            </a:fld>
            <a:endParaRPr lang="en-US" dirty="0"/>
          </a:p>
        </p:txBody>
      </p:sp>
    </p:spTree>
    <p:extLst>
      <p:ext uri="{BB962C8B-B14F-4D97-AF65-F5344CB8AC3E}">
        <p14:creationId xmlns:p14="http://schemas.microsoft.com/office/powerpoint/2010/main" val="1961961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909561" y="4314328"/>
            <a:ext cx="2910840" cy="374642"/>
          </a:xfrm>
        </p:spPr>
        <p:txBody>
          <a:bodyPr/>
          <a:lstStyle/>
          <a:p>
            <a:fld id="{3A750590-9F9A-443B-9295-A3931D8194B1}" type="datetime1">
              <a:rPr lang="en-US" smtClean="0"/>
              <a:t>5/9/2022</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75B4BE-627A-4EC1-99E1-6F1AA97AB802}" type="datetime1">
              <a:rPr lang="en-US" smtClean="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78BFACF8-E63D-4673-A128-83547867BB7A}" type="datetime1">
              <a:rPr lang="en-US" smtClean="0"/>
              <a:t>5/9/2022</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BED6AC-4FBA-40BD-BE75-20DB64DA4BAD}" type="datetime1">
              <a:rPr lang="en-US" smtClean="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933C87-D201-458A-93C0-8EDD9AC92D93}" type="datetime1">
              <a:rPr lang="en-US" smtClean="0"/>
              <a:t>5/9/2022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6CE6829-5A25-485A-91B1-5D6D58BB9F23}" type="datetime1">
              <a:rPr lang="en-US" smtClean="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12F5CD-23D0-4DD1-85B1-71F1825FB3EC}" type="datetime1">
              <a:rPr lang="en-US" smtClean="0"/>
              <a:t>5/9/2022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BA5035-C284-496A-B076-BA73A8FA5D8B}" type="datetime1">
              <a:rPr lang="en-US" smtClean="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0EB420-1875-490A-8C4B-7AAB939FBE08}" type="datetime1">
              <a:rPr lang="en-US" smtClean="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35805F-452B-497C-9BD6-2CDB6902F369}" type="datetime1">
              <a:rPr lang="en-US" smtClean="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FD3F7C6B-C82D-4D42-9929-D6E7E11D9A64}" type="datetime1">
              <a:rPr lang="en-US" smtClean="0"/>
              <a:t>5/9/2022</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0CF4779-62E8-4B21-A5D7-0AFB9DBD4358}" type="datetime1">
              <a:rPr lang="en-US" smtClean="0"/>
              <a:t>5/9/2022</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5F9D3375-5CD0-4576-BF96-ADFF24726FF8}" type="datetime1">
              <a:rPr lang="en-US" smtClean="0"/>
              <a:t>5/9/2022</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FACD1F8-971E-4F8C-8737-750C12E93E08}" type="datetime1">
              <a:rPr lang="en-US" smtClean="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C7D1621-FA30-4D98-85E5-1409E6BEECDC}" type="datetime1">
              <a:rPr lang="en-US" smtClean="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96F347-1B2F-4097-AEB5-4A26FB45D67A}" type="datetime1">
              <a:rPr lang="en-US" smtClean="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8CC1DEE0-34E5-4E0F-BEC1-4B8835F82CD1}" type="datetime1">
              <a:rPr lang="en-US" smtClean="0"/>
              <a:t>5/9/2022</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9359126-4846-4E88-BDD9-5585CC877E47}" type="datetime1">
              <a:rPr lang="en-US" smtClean="0"/>
              <a:t>5/9/2022</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0496C6C-A85F-426B-9ED1-3444166CE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DE5CD8D-E704-46A1-BC3E-9A644A9FFD4E}"/>
              </a:ext>
            </a:extLst>
          </p:cNvPr>
          <p:cNvSpPr>
            <a:spLocks noGrp="1"/>
          </p:cNvSpPr>
          <p:nvPr>
            <p:ph type="ctrTitle"/>
          </p:nvPr>
        </p:nvSpPr>
        <p:spPr>
          <a:xfrm>
            <a:off x="792483" y="821265"/>
            <a:ext cx="6098705" cy="5222117"/>
          </a:xfrm>
        </p:spPr>
        <p:txBody>
          <a:bodyPr anchor="ctr">
            <a:normAutofit/>
          </a:bodyPr>
          <a:lstStyle/>
          <a:p>
            <a:pPr algn="r"/>
            <a:r>
              <a:rPr lang="en-US" sz="5400" dirty="0"/>
              <a:t>SMART POWER SAVING BASED </a:t>
            </a:r>
            <a:r>
              <a:rPr lang="en-US" sz="5400"/>
              <a:t>ON OCCUPANCY </a:t>
            </a:r>
            <a:r>
              <a:rPr lang="en-US" sz="5400" dirty="0"/>
              <a:t>INDICATOR </a:t>
            </a:r>
          </a:p>
        </p:txBody>
      </p:sp>
      <p:cxnSp>
        <p:nvCxnSpPr>
          <p:cNvPr id="19" name="Straight Connector 18">
            <a:extLst>
              <a:ext uri="{FF2B5EF4-FFF2-40B4-BE49-F238E27FC236}">
                <a16:creationId xmlns:a16="http://schemas.microsoft.com/office/drawing/2014/main" id="{AD0EF22F-5D3C-4240-8C32-1B20803E5A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97108" y="1923563"/>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E309A740-48C5-4AE5-879B-F567D3D7ACDC}"/>
              </a:ext>
            </a:extLst>
          </p:cNvPr>
          <p:cNvSpPr>
            <a:spLocks noGrp="1"/>
          </p:cNvSpPr>
          <p:nvPr>
            <p:ph type="subTitle" idx="1"/>
          </p:nvPr>
        </p:nvSpPr>
        <p:spPr>
          <a:xfrm>
            <a:off x="7903028" y="821265"/>
            <a:ext cx="3265713" cy="5222117"/>
          </a:xfrm>
        </p:spPr>
        <p:txBody>
          <a:bodyPr anchor="ctr">
            <a:normAutofit/>
          </a:bodyPr>
          <a:lstStyle/>
          <a:p>
            <a:r>
              <a:rPr lang="en-US" u="sng" dirty="0"/>
              <a:t>TEAM:</a:t>
            </a:r>
          </a:p>
          <a:p>
            <a:pPr algn="just"/>
            <a:r>
              <a:rPr lang="en-US" dirty="0"/>
              <a:t>G.HARSHITHA (19K61A1215)</a:t>
            </a:r>
          </a:p>
          <a:p>
            <a:pPr algn="just"/>
            <a:r>
              <a:rPr lang="en-US" dirty="0"/>
              <a:t>V.BHANU HARSHITHA</a:t>
            </a:r>
          </a:p>
          <a:p>
            <a:pPr algn="just"/>
            <a:r>
              <a:rPr lang="en-US" dirty="0"/>
              <a:t>(19K61A1250)</a:t>
            </a:r>
          </a:p>
          <a:p>
            <a:pPr algn="just"/>
            <a:r>
              <a:rPr lang="en-US" dirty="0"/>
              <a:t>A.PAVAN SAI </a:t>
            </a:r>
          </a:p>
          <a:p>
            <a:pPr algn="just"/>
            <a:r>
              <a:rPr lang="en-US" dirty="0"/>
              <a:t>(19K61A1206)</a:t>
            </a:r>
          </a:p>
          <a:p>
            <a:pPr algn="just"/>
            <a:r>
              <a:rPr lang="en-US"/>
              <a:t>Y.NAVEEN</a:t>
            </a:r>
            <a:endParaRPr lang="en-US" dirty="0"/>
          </a:p>
          <a:p>
            <a:pPr algn="just"/>
            <a:r>
              <a:rPr lang="en-US" dirty="0"/>
              <a:t>(19K61A1254)</a:t>
            </a:r>
          </a:p>
        </p:txBody>
      </p:sp>
      <p:pic>
        <p:nvPicPr>
          <p:cNvPr id="21" name="Picture 20">
            <a:extLst>
              <a:ext uri="{FF2B5EF4-FFF2-40B4-BE49-F238E27FC236}">
                <a16:creationId xmlns:a16="http://schemas.microsoft.com/office/drawing/2014/main" id="{D912EF34-0253-41FD-9940-D8FBB7DE74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4"/>
          <a:stretch/>
        </p:blipFill>
        <p:spPr>
          <a:xfrm rot="5400000" flipH="1" flipV="1">
            <a:off x="7545075" y="2187578"/>
            <a:ext cx="6857999" cy="2482850"/>
          </a:xfrm>
          <a:prstGeom prst="rect">
            <a:avLst/>
          </a:prstGeom>
        </p:spPr>
      </p:pic>
      <p:sp>
        <p:nvSpPr>
          <p:cNvPr id="6" name="TextBox 5">
            <a:extLst>
              <a:ext uri="{FF2B5EF4-FFF2-40B4-BE49-F238E27FC236}">
                <a16:creationId xmlns:a16="http://schemas.microsoft.com/office/drawing/2014/main" id="{DC5D18D9-4E04-481F-8779-43086096FFFE}"/>
              </a:ext>
            </a:extLst>
          </p:cNvPr>
          <p:cNvSpPr txBox="1"/>
          <p:nvPr/>
        </p:nvSpPr>
        <p:spPr>
          <a:xfrm>
            <a:off x="500513" y="5464819"/>
            <a:ext cx="7031346" cy="1200329"/>
          </a:xfrm>
          <a:prstGeom prst="rect">
            <a:avLst/>
          </a:prstGeom>
          <a:noFill/>
        </p:spPr>
        <p:txBody>
          <a:bodyPr wrap="square" rtlCol="0">
            <a:spAutoFit/>
          </a:bodyPr>
          <a:lstStyle/>
          <a:p>
            <a:r>
              <a:rPr lang="en-IN" b="1" u="sng" dirty="0"/>
              <a:t>GUIDANCE:</a:t>
            </a:r>
          </a:p>
          <a:p>
            <a:pPr algn="just"/>
            <a:r>
              <a:rPr lang="en-IN" dirty="0"/>
              <a:t>MR.G.NAGESWARA RAO</a:t>
            </a:r>
          </a:p>
          <a:p>
            <a:pPr algn="just"/>
            <a:r>
              <a:rPr lang="en-IN" dirty="0"/>
              <a:t>ASSOCIATE PROFESSOR</a:t>
            </a:r>
          </a:p>
          <a:p>
            <a:pPr algn="just"/>
            <a:r>
              <a:rPr lang="en-IN" dirty="0"/>
              <a:t>SASI INSTITUTE OF TECHNOLOGY &amp; ENGINEERING</a:t>
            </a:r>
          </a:p>
        </p:txBody>
      </p:sp>
    </p:spTree>
    <p:extLst>
      <p:ext uri="{BB962C8B-B14F-4D97-AF65-F5344CB8AC3E}">
        <p14:creationId xmlns:p14="http://schemas.microsoft.com/office/powerpoint/2010/main" val="3754664940"/>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B03F7-066F-7EF6-1187-6A43DA07BFD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DB3CAD4E-4497-1BBB-40BD-029910E73F19}"/>
              </a:ext>
            </a:extLst>
          </p:cNvPr>
          <p:cNvSpPr>
            <a:spLocks noGrp="1"/>
          </p:cNvSpPr>
          <p:nvPr>
            <p:ph idx="1"/>
          </p:nvPr>
        </p:nvSpPr>
        <p:spPr/>
        <p:txBody>
          <a:bodyPr>
            <a:normAutofit/>
          </a:bodyPr>
          <a:lstStyle/>
          <a:p>
            <a:pPr marL="514350" indent="-514350">
              <a:buAutoNum type="arabicPeriod"/>
            </a:pPr>
            <a:r>
              <a:rPr lang="en-IN" sz="4000" dirty="0"/>
              <a:t>Abstract</a:t>
            </a:r>
          </a:p>
          <a:p>
            <a:pPr marL="514350" indent="-514350">
              <a:buAutoNum type="arabicPeriod"/>
            </a:pPr>
            <a:r>
              <a:rPr lang="en-IN" sz="4000" dirty="0"/>
              <a:t>Literature Survey</a:t>
            </a:r>
          </a:p>
          <a:p>
            <a:pPr marL="514350" indent="-514350">
              <a:buAutoNum type="arabicPeriod"/>
            </a:pPr>
            <a:r>
              <a:rPr lang="en-IN" sz="4000" dirty="0"/>
              <a:t>Existing System</a:t>
            </a:r>
          </a:p>
          <a:p>
            <a:pPr marL="514350" indent="-514350">
              <a:buAutoNum type="arabicPeriod"/>
            </a:pPr>
            <a:r>
              <a:rPr lang="en-IN" sz="4000" dirty="0"/>
              <a:t>Proposed System</a:t>
            </a:r>
          </a:p>
          <a:p>
            <a:pPr marL="514350" indent="-514350">
              <a:buAutoNum type="arabicPeriod"/>
            </a:pPr>
            <a:r>
              <a:rPr lang="en-IN" sz="4000" dirty="0"/>
              <a:t>Implementation</a:t>
            </a:r>
          </a:p>
          <a:p>
            <a:pPr marL="514350" indent="-514350">
              <a:buAutoNum type="arabicPeriod"/>
            </a:pPr>
            <a:r>
              <a:rPr lang="en-IN" sz="4000" dirty="0"/>
              <a:t>Conclusion</a:t>
            </a:r>
          </a:p>
          <a:p>
            <a:pPr marL="0" indent="0">
              <a:buNone/>
            </a:pPr>
            <a:endParaRPr lang="en-IN" sz="3200" dirty="0"/>
          </a:p>
        </p:txBody>
      </p:sp>
    </p:spTree>
    <p:extLst>
      <p:ext uri="{BB962C8B-B14F-4D97-AF65-F5344CB8AC3E}">
        <p14:creationId xmlns:p14="http://schemas.microsoft.com/office/powerpoint/2010/main" val="1104982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A13FB-06DA-42AF-9886-7ABD7D2B0944}"/>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99F07391-43E8-4F42-80B2-03962C495468}"/>
              </a:ext>
            </a:extLst>
          </p:cNvPr>
          <p:cNvSpPr>
            <a:spLocks noGrp="1"/>
          </p:cNvSpPr>
          <p:nvPr>
            <p:ph idx="1"/>
          </p:nvPr>
        </p:nvSpPr>
        <p:spPr/>
        <p:txBody>
          <a:bodyPr>
            <a:noAutofit/>
          </a:bodyPr>
          <a:lstStyle/>
          <a:p>
            <a:pPr marL="0" indent="0" algn="just">
              <a:buNone/>
            </a:pPr>
            <a:r>
              <a:rPr lang="en-US" sz="3600" dirty="0"/>
              <a:t>This system is able to control light brightness according to its surrounding, LEDs will able to dim as necessary, lights will be automatically on when the room is occupied and automatically off when the room is empty and system operates in certain modes, can be selected by users.</a:t>
            </a:r>
          </a:p>
        </p:txBody>
      </p:sp>
    </p:spTree>
    <p:extLst>
      <p:ext uri="{BB962C8B-B14F-4D97-AF65-F5344CB8AC3E}">
        <p14:creationId xmlns:p14="http://schemas.microsoft.com/office/powerpoint/2010/main" val="390634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06E923-6B69-4FED-BB98-F8713180EBC7}"/>
              </a:ext>
            </a:extLst>
          </p:cNvPr>
          <p:cNvSpPr>
            <a:spLocks noGrp="1"/>
          </p:cNvSpPr>
          <p:nvPr>
            <p:ph idx="1"/>
          </p:nvPr>
        </p:nvSpPr>
        <p:spPr>
          <a:xfrm>
            <a:off x="375385" y="1597794"/>
            <a:ext cx="11130815" cy="4620891"/>
          </a:xfrm>
        </p:spPr>
        <p:txBody>
          <a:bodyPr>
            <a:normAutofit/>
          </a:bodyPr>
          <a:lstStyle/>
          <a:p>
            <a:r>
              <a:rPr lang="en-IN" sz="3600" dirty="0"/>
              <a:t>Lights  are  usually    controlled    by                  ON/OFF   switches.</a:t>
            </a:r>
          </a:p>
          <a:p>
            <a:pPr marL="0" indent="0">
              <a:buNone/>
            </a:pPr>
            <a:endParaRPr lang="en-IN" sz="3600" dirty="0"/>
          </a:p>
          <a:p>
            <a:pPr marL="0" indent="0">
              <a:buNone/>
            </a:pPr>
            <a:endParaRPr lang="en-IN" sz="3600" dirty="0"/>
          </a:p>
          <a:p>
            <a:r>
              <a:rPr lang="en-IN" sz="3600" dirty="0"/>
              <a:t>Lights  can  also  be  controlled   by  connecting    to  a  hardware and  software but                      can  not  detect  human.</a:t>
            </a:r>
          </a:p>
          <a:p>
            <a:pPr marL="0" indent="0">
              <a:buNone/>
            </a:pPr>
            <a:endParaRPr lang="en-IN" sz="3600" dirty="0"/>
          </a:p>
        </p:txBody>
      </p:sp>
      <p:pic>
        <p:nvPicPr>
          <p:cNvPr id="7" name="Picture 6">
            <a:extLst>
              <a:ext uri="{FF2B5EF4-FFF2-40B4-BE49-F238E27FC236}">
                <a16:creationId xmlns:a16="http://schemas.microsoft.com/office/drawing/2014/main" id="{79A69F18-DCEB-431A-A8BE-45EE22B27CB4}"/>
              </a:ext>
            </a:extLst>
          </p:cNvPr>
          <p:cNvPicPr>
            <a:picLocks noChangeAspect="1"/>
          </p:cNvPicPr>
          <p:nvPr/>
        </p:nvPicPr>
        <p:blipFill>
          <a:blip r:embed="rId2"/>
          <a:stretch>
            <a:fillRect/>
          </a:stretch>
        </p:blipFill>
        <p:spPr>
          <a:xfrm>
            <a:off x="9288379" y="1776664"/>
            <a:ext cx="2217821" cy="2217821"/>
          </a:xfrm>
          <a:prstGeom prst="rect">
            <a:avLst/>
          </a:prstGeom>
        </p:spPr>
      </p:pic>
      <p:pic>
        <p:nvPicPr>
          <p:cNvPr id="9" name="Picture 8">
            <a:extLst>
              <a:ext uri="{FF2B5EF4-FFF2-40B4-BE49-F238E27FC236}">
                <a16:creationId xmlns:a16="http://schemas.microsoft.com/office/drawing/2014/main" id="{9BBDA3DD-5072-4310-BEB1-504A1BF1924A}"/>
              </a:ext>
            </a:extLst>
          </p:cNvPr>
          <p:cNvPicPr>
            <a:picLocks noChangeAspect="1"/>
          </p:cNvPicPr>
          <p:nvPr/>
        </p:nvPicPr>
        <p:blipFill>
          <a:blip r:embed="rId3"/>
          <a:stretch>
            <a:fillRect/>
          </a:stretch>
        </p:blipFill>
        <p:spPr>
          <a:xfrm>
            <a:off x="8238389" y="4473353"/>
            <a:ext cx="2705536" cy="1832782"/>
          </a:xfrm>
          <a:prstGeom prst="rect">
            <a:avLst/>
          </a:prstGeom>
        </p:spPr>
      </p:pic>
      <p:sp>
        <p:nvSpPr>
          <p:cNvPr id="2" name="TextBox 1">
            <a:extLst>
              <a:ext uri="{FF2B5EF4-FFF2-40B4-BE49-F238E27FC236}">
                <a16:creationId xmlns:a16="http://schemas.microsoft.com/office/drawing/2014/main" id="{FB202758-AE8D-2550-C445-86127C49F66C}"/>
              </a:ext>
            </a:extLst>
          </p:cNvPr>
          <p:cNvSpPr txBox="1"/>
          <p:nvPr/>
        </p:nvSpPr>
        <p:spPr>
          <a:xfrm>
            <a:off x="6516304" y="653611"/>
            <a:ext cx="7382577" cy="677108"/>
          </a:xfrm>
          <a:prstGeom prst="rect">
            <a:avLst/>
          </a:prstGeom>
          <a:noFill/>
        </p:spPr>
        <p:txBody>
          <a:bodyPr wrap="square" rtlCol="0">
            <a:spAutoFit/>
          </a:bodyPr>
          <a:lstStyle/>
          <a:p>
            <a:r>
              <a:rPr lang="en-IN" sz="3800" dirty="0"/>
              <a:t>GENERAL UTILIZATION</a:t>
            </a:r>
          </a:p>
        </p:txBody>
      </p:sp>
    </p:spTree>
    <p:extLst>
      <p:ext uri="{BB962C8B-B14F-4D97-AF65-F5344CB8AC3E}">
        <p14:creationId xmlns:p14="http://schemas.microsoft.com/office/powerpoint/2010/main" val="1530671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40A8-09C4-4772-BFC0-5E041D7B744D}"/>
              </a:ext>
            </a:extLst>
          </p:cNvPr>
          <p:cNvSpPr>
            <a:spLocks noGrp="1"/>
          </p:cNvSpPr>
          <p:nvPr>
            <p:ph type="title"/>
          </p:nvPr>
        </p:nvSpPr>
        <p:spPr/>
        <p:txBody>
          <a:bodyPr/>
          <a:lstStyle/>
          <a:p>
            <a:r>
              <a:rPr lang="en-IN" dirty="0"/>
              <a:t>PROBLEMS</a:t>
            </a:r>
          </a:p>
        </p:txBody>
      </p:sp>
      <p:sp>
        <p:nvSpPr>
          <p:cNvPr id="3" name="Content Placeholder 2">
            <a:extLst>
              <a:ext uri="{FF2B5EF4-FFF2-40B4-BE49-F238E27FC236}">
                <a16:creationId xmlns:a16="http://schemas.microsoft.com/office/drawing/2014/main" id="{55272340-F77B-4AB0-9902-3603C568F9C6}"/>
              </a:ext>
            </a:extLst>
          </p:cNvPr>
          <p:cNvSpPr>
            <a:spLocks noGrp="1"/>
          </p:cNvSpPr>
          <p:nvPr>
            <p:ph idx="1"/>
          </p:nvPr>
        </p:nvSpPr>
        <p:spPr/>
        <p:txBody>
          <a:bodyPr>
            <a:normAutofit/>
          </a:bodyPr>
          <a:lstStyle/>
          <a:p>
            <a:pPr marL="0" indent="0" algn="just">
              <a:buNone/>
            </a:pPr>
            <a:endParaRPr lang="en-US" sz="3600" dirty="0"/>
          </a:p>
          <a:p>
            <a:pPr algn="just"/>
            <a:r>
              <a:rPr lang="en-US" sz="3600" dirty="0"/>
              <a:t>People often forget to turn off the light in their house.</a:t>
            </a:r>
          </a:p>
          <a:p>
            <a:pPr algn="just"/>
            <a:r>
              <a:rPr lang="en-US" sz="3600" dirty="0"/>
              <a:t>There is also a problem of the use of excessive amounts of light known as over-illumination.</a:t>
            </a:r>
            <a:endParaRPr lang="en-IN" sz="3600" dirty="0"/>
          </a:p>
        </p:txBody>
      </p:sp>
    </p:spTree>
    <p:extLst>
      <p:ext uri="{BB962C8B-B14F-4D97-AF65-F5344CB8AC3E}">
        <p14:creationId xmlns:p14="http://schemas.microsoft.com/office/powerpoint/2010/main" val="2432463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3FAA-1C7F-424E-C5D3-6150582D18AD}"/>
              </a:ext>
            </a:extLst>
          </p:cNvPr>
          <p:cNvSpPr>
            <a:spLocks noGrp="1"/>
          </p:cNvSpPr>
          <p:nvPr>
            <p:ph type="title"/>
          </p:nvPr>
        </p:nvSpPr>
        <p:spPr>
          <a:xfrm>
            <a:off x="2895600" y="523795"/>
            <a:ext cx="8610600" cy="1293028"/>
          </a:xfrm>
        </p:spPr>
        <p:txBody>
          <a:bodyPr/>
          <a:lstStyle/>
          <a:p>
            <a:r>
              <a:rPr lang="en-IN" dirty="0"/>
              <a:t>LITERATURE Survey</a:t>
            </a:r>
          </a:p>
        </p:txBody>
      </p:sp>
      <p:graphicFrame>
        <p:nvGraphicFramePr>
          <p:cNvPr id="4" name="Table 4">
            <a:extLst>
              <a:ext uri="{FF2B5EF4-FFF2-40B4-BE49-F238E27FC236}">
                <a16:creationId xmlns:a16="http://schemas.microsoft.com/office/drawing/2014/main" id="{879E3646-EFBE-8758-7174-49AB31A81CFA}"/>
              </a:ext>
            </a:extLst>
          </p:cNvPr>
          <p:cNvGraphicFramePr>
            <a:graphicFrameLocks noGrp="1"/>
          </p:cNvGraphicFramePr>
          <p:nvPr>
            <p:ph idx="1"/>
            <p:extLst>
              <p:ext uri="{D42A27DB-BD31-4B8C-83A1-F6EECF244321}">
                <p14:modId xmlns:p14="http://schemas.microsoft.com/office/powerpoint/2010/main" val="3618340938"/>
              </p:ext>
            </p:extLst>
          </p:nvPr>
        </p:nvGraphicFramePr>
        <p:xfrm>
          <a:off x="685800" y="1746607"/>
          <a:ext cx="10820400" cy="4587598"/>
        </p:xfrm>
        <a:graphic>
          <a:graphicData uri="http://schemas.openxmlformats.org/drawingml/2006/table">
            <a:tbl>
              <a:tblPr firstRow="1" bandRow="1">
                <a:tableStyleId>{5940675A-B579-460E-94D1-54222C63F5DA}</a:tableStyleId>
              </a:tblPr>
              <a:tblGrid>
                <a:gridCol w="5410200">
                  <a:extLst>
                    <a:ext uri="{9D8B030D-6E8A-4147-A177-3AD203B41FA5}">
                      <a16:colId xmlns:a16="http://schemas.microsoft.com/office/drawing/2014/main" val="3915163248"/>
                    </a:ext>
                  </a:extLst>
                </a:gridCol>
                <a:gridCol w="5410200">
                  <a:extLst>
                    <a:ext uri="{9D8B030D-6E8A-4147-A177-3AD203B41FA5}">
                      <a16:colId xmlns:a16="http://schemas.microsoft.com/office/drawing/2014/main" val="4103000069"/>
                    </a:ext>
                  </a:extLst>
                </a:gridCol>
              </a:tblGrid>
              <a:tr h="485708">
                <a:tc>
                  <a:txBody>
                    <a:bodyPr/>
                    <a:lstStyle/>
                    <a:p>
                      <a:pPr algn="ctr"/>
                      <a:r>
                        <a:rPr lang="en-IN" sz="2400" dirty="0"/>
                        <a:t>TITLE</a:t>
                      </a:r>
                    </a:p>
                  </a:txBody>
                  <a:tcPr/>
                </a:tc>
                <a:tc>
                  <a:txBody>
                    <a:bodyPr/>
                    <a:lstStyle/>
                    <a:p>
                      <a:pPr algn="ctr"/>
                      <a:r>
                        <a:rPr lang="en-IN" sz="2400" dirty="0"/>
                        <a:t>CONCEPT</a:t>
                      </a:r>
                    </a:p>
                  </a:txBody>
                  <a:tcPr/>
                </a:tc>
                <a:extLst>
                  <a:ext uri="{0D108BD9-81ED-4DB2-BD59-A6C34878D82A}">
                    <a16:rowId xmlns:a16="http://schemas.microsoft.com/office/drawing/2014/main" val="3202073902"/>
                  </a:ext>
                </a:extLst>
              </a:tr>
              <a:tr h="1876850">
                <a:tc>
                  <a:txBody>
                    <a:bodyPr/>
                    <a:lstStyle/>
                    <a:p>
                      <a:pPr algn="ctr"/>
                      <a:r>
                        <a:rPr lang="en-IN" sz="2400" dirty="0"/>
                        <a:t>Automatic Light Control System</a:t>
                      </a:r>
                    </a:p>
                    <a:p>
                      <a:pPr marL="342900" indent="-342900" algn="ctr">
                        <a:buFontTx/>
                        <a:buChar char="-"/>
                      </a:pPr>
                      <a:r>
                        <a:rPr lang="en-IN" sz="2400" dirty="0"/>
                        <a:t>By </a:t>
                      </a:r>
                      <a:r>
                        <a:rPr lang="en-IN" sz="2400" dirty="0" err="1"/>
                        <a:t>Mohd</a:t>
                      </a:r>
                      <a:r>
                        <a:rPr lang="en-IN" sz="2400" dirty="0"/>
                        <a:t> Amir Hamzah</a:t>
                      </a:r>
                    </a:p>
                    <a:p>
                      <a:pPr marL="0" indent="0" algn="ctr">
                        <a:buFontTx/>
                        <a:buNone/>
                      </a:pPr>
                      <a:r>
                        <a:rPr lang="en-IN" sz="4400" dirty="0"/>
                        <a:t>In 2009</a:t>
                      </a:r>
                    </a:p>
                  </a:txBody>
                  <a:tcPr/>
                </a:tc>
                <a:tc>
                  <a:txBody>
                    <a:bodyPr/>
                    <a:lstStyle/>
                    <a:p>
                      <a:pPr marL="285750" indent="-285750">
                        <a:buFont typeface="Arial" panose="020B0604020202020204" pitchFamily="34" charset="0"/>
                        <a:buChar char="•"/>
                      </a:pPr>
                      <a:r>
                        <a:rPr lang="en-US" sz="2000" dirty="0"/>
                        <a:t>Comparing the surrounding light and the light intensity in the room to determine whether to switch on the light or not, Heat up pretty fast when the system is turn on.</a:t>
                      </a:r>
                      <a:endParaRPr lang="en-IN" sz="2000" dirty="0"/>
                    </a:p>
                  </a:txBody>
                  <a:tcPr/>
                </a:tc>
                <a:extLst>
                  <a:ext uri="{0D108BD9-81ED-4DB2-BD59-A6C34878D82A}">
                    <a16:rowId xmlns:a16="http://schemas.microsoft.com/office/drawing/2014/main" val="4243644127"/>
                  </a:ext>
                </a:extLst>
              </a:tr>
              <a:tr h="1700683">
                <a:tc>
                  <a:txBody>
                    <a:bodyPr/>
                    <a:lstStyle/>
                    <a:p>
                      <a:pPr algn="ctr"/>
                      <a:r>
                        <a:rPr lang="en-US" sz="2400" dirty="0"/>
                        <a:t>Intelligent Lighting System for Commercial Building</a:t>
                      </a:r>
                    </a:p>
                    <a:p>
                      <a:pPr marL="342900" indent="-342900" algn="ctr">
                        <a:buFontTx/>
                        <a:buChar char="-"/>
                      </a:pPr>
                      <a:r>
                        <a:rPr lang="en-US" sz="2400" dirty="0"/>
                        <a:t>By </a:t>
                      </a:r>
                      <a:r>
                        <a:rPr lang="en-IN" sz="2400" dirty="0" err="1"/>
                        <a:t>Sukor</a:t>
                      </a:r>
                      <a:r>
                        <a:rPr lang="en-IN" sz="2400" dirty="0"/>
                        <a:t> Bin Muhammad</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4400" dirty="0"/>
                        <a:t>In 2009</a:t>
                      </a:r>
                    </a:p>
                    <a:p>
                      <a:pPr marL="0" indent="0" algn="ctr">
                        <a:buFontTx/>
                        <a:buNone/>
                      </a:pPr>
                      <a:endParaRPr lang="en-IN" sz="2400" dirty="0"/>
                    </a:p>
                  </a:txBody>
                  <a:tcPr/>
                </a:tc>
                <a:tc>
                  <a:txBody>
                    <a:bodyPr/>
                    <a:lstStyle/>
                    <a:p>
                      <a:pPr marL="285750" indent="-285750">
                        <a:buFont typeface="Arial" panose="020B0604020202020204" pitchFamily="34" charset="0"/>
                        <a:buChar char="•"/>
                      </a:pPr>
                      <a:r>
                        <a:rPr lang="en-US" sz="2000" dirty="0"/>
                        <a:t>The intelligent lighting system designed by him only focused on using occupancy sensor and photosensor to automatically turn on and off the lights. </a:t>
                      </a:r>
                      <a:endParaRPr lang="en-IN" sz="2000" dirty="0"/>
                    </a:p>
                  </a:txBody>
                  <a:tcPr/>
                </a:tc>
                <a:extLst>
                  <a:ext uri="{0D108BD9-81ED-4DB2-BD59-A6C34878D82A}">
                    <a16:rowId xmlns:a16="http://schemas.microsoft.com/office/drawing/2014/main" val="1475620067"/>
                  </a:ext>
                </a:extLst>
              </a:tr>
            </a:tbl>
          </a:graphicData>
        </a:graphic>
      </p:graphicFrame>
    </p:spTree>
    <p:extLst>
      <p:ext uri="{BB962C8B-B14F-4D97-AF65-F5344CB8AC3E}">
        <p14:creationId xmlns:p14="http://schemas.microsoft.com/office/powerpoint/2010/main" val="1865548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E13DB-EEF0-F7AB-05BD-EB5071C50028}"/>
              </a:ext>
            </a:extLst>
          </p:cNvPr>
          <p:cNvSpPr>
            <a:spLocks noGrp="1"/>
          </p:cNvSpPr>
          <p:nvPr>
            <p:ph type="title"/>
          </p:nvPr>
        </p:nvSpPr>
        <p:spPr>
          <a:xfrm>
            <a:off x="2895600" y="389365"/>
            <a:ext cx="8610600" cy="1293028"/>
          </a:xfrm>
        </p:spPr>
        <p:txBody>
          <a:bodyPr/>
          <a:lstStyle/>
          <a:p>
            <a:r>
              <a:rPr lang="en-IN" dirty="0"/>
              <a:t>LITERATURE SURVEY</a:t>
            </a:r>
          </a:p>
        </p:txBody>
      </p:sp>
      <p:graphicFrame>
        <p:nvGraphicFramePr>
          <p:cNvPr id="4" name="Table 4">
            <a:extLst>
              <a:ext uri="{FF2B5EF4-FFF2-40B4-BE49-F238E27FC236}">
                <a16:creationId xmlns:a16="http://schemas.microsoft.com/office/drawing/2014/main" id="{AD4A3309-9F2B-230E-8CC6-14AFACD61B15}"/>
              </a:ext>
            </a:extLst>
          </p:cNvPr>
          <p:cNvGraphicFramePr>
            <a:graphicFrameLocks noGrp="1"/>
          </p:cNvGraphicFramePr>
          <p:nvPr>
            <p:ph idx="1"/>
            <p:extLst>
              <p:ext uri="{D42A27DB-BD31-4B8C-83A1-F6EECF244321}">
                <p14:modId xmlns:p14="http://schemas.microsoft.com/office/powerpoint/2010/main" val="2897083420"/>
              </p:ext>
            </p:extLst>
          </p:nvPr>
        </p:nvGraphicFramePr>
        <p:xfrm>
          <a:off x="685800" y="1600200"/>
          <a:ext cx="10820400" cy="5059680"/>
        </p:xfrm>
        <a:graphic>
          <a:graphicData uri="http://schemas.openxmlformats.org/drawingml/2006/table">
            <a:tbl>
              <a:tblPr firstRow="1" bandRow="1">
                <a:tableStyleId>{5940675A-B579-460E-94D1-54222C63F5DA}</a:tableStyleId>
              </a:tblPr>
              <a:tblGrid>
                <a:gridCol w="5410200">
                  <a:extLst>
                    <a:ext uri="{9D8B030D-6E8A-4147-A177-3AD203B41FA5}">
                      <a16:colId xmlns:a16="http://schemas.microsoft.com/office/drawing/2014/main" val="2322849394"/>
                    </a:ext>
                  </a:extLst>
                </a:gridCol>
                <a:gridCol w="5410200">
                  <a:extLst>
                    <a:ext uri="{9D8B030D-6E8A-4147-A177-3AD203B41FA5}">
                      <a16:colId xmlns:a16="http://schemas.microsoft.com/office/drawing/2014/main" val="201824583"/>
                    </a:ext>
                  </a:extLst>
                </a:gridCol>
              </a:tblGrid>
              <a:tr h="439919">
                <a:tc>
                  <a:txBody>
                    <a:bodyPr/>
                    <a:lstStyle/>
                    <a:p>
                      <a:pPr algn="ctr"/>
                      <a:r>
                        <a:rPr lang="en-IN" sz="2400" dirty="0"/>
                        <a:t>TITLE</a:t>
                      </a:r>
                    </a:p>
                  </a:txBody>
                  <a:tcPr/>
                </a:tc>
                <a:tc>
                  <a:txBody>
                    <a:bodyPr/>
                    <a:lstStyle/>
                    <a:p>
                      <a:pPr algn="ctr"/>
                      <a:r>
                        <a:rPr lang="en-IN" sz="2400" dirty="0"/>
                        <a:t>CONCEPT</a:t>
                      </a:r>
                    </a:p>
                  </a:txBody>
                  <a:tcPr/>
                </a:tc>
                <a:extLst>
                  <a:ext uri="{0D108BD9-81ED-4DB2-BD59-A6C34878D82A}">
                    <a16:rowId xmlns:a16="http://schemas.microsoft.com/office/drawing/2014/main" val="740891207"/>
                  </a:ext>
                </a:extLst>
              </a:tr>
              <a:tr h="1437068">
                <a:tc>
                  <a:txBody>
                    <a:bodyPr/>
                    <a:lstStyle/>
                    <a:p>
                      <a:pPr algn="ctr"/>
                      <a:r>
                        <a:rPr lang="en-IN" sz="2400" dirty="0"/>
                        <a:t>Home Automation Lighting System</a:t>
                      </a:r>
                    </a:p>
                    <a:p>
                      <a:pPr marL="342900" indent="-342900" algn="ctr">
                        <a:buFontTx/>
                        <a:buChar char="-"/>
                      </a:pPr>
                      <a:r>
                        <a:rPr lang="en-IN" sz="2400" dirty="0"/>
                        <a:t>By Goh Lin </a:t>
                      </a:r>
                      <a:r>
                        <a:rPr lang="en-IN" sz="2400" dirty="0" err="1"/>
                        <a:t>Chian</a:t>
                      </a:r>
                      <a:endParaRPr lang="en-IN" sz="2400" dirty="0"/>
                    </a:p>
                    <a:p>
                      <a:pPr marL="0" indent="0" algn="ctr">
                        <a:buFontTx/>
                        <a:buNone/>
                      </a:pPr>
                      <a:r>
                        <a:rPr lang="en-IN" sz="4400" dirty="0"/>
                        <a:t>In 2009</a:t>
                      </a:r>
                    </a:p>
                  </a:txBody>
                  <a:tcPr/>
                </a:tc>
                <a:tc>
                  <a:txBody>
                    <a:bodyPr/>
                    <a:lstStyle/>
                    <a:p>
                      <a:pPr marL="285750" indent="-285750">
                        <a:buFont typeface="Arial" panose="020B0604020202020204" pitchFamily="34" charset="0"/>
                        <a:buChar char="•"/>
                      </a:pPr>
                      <a:r>
                        <a:rPr lang="en-US" sz="2000" dirty="0"/>
                        <a:t>The system used motion detector to detect passerby in the area to automatically turn on and off the lights. He also used GUI and LAN.</a:t>
                      </a:r>
                      <a:endParaRPr lang="en-IN" sz="2000" dirty="0"/>
                    </a:p>
                  </a:txBody>
                  <a:tcPr/>
                </a:tc>
                <a:extLst>
                  <a:ext uri="{0D108BD9-81ED-4DB2-BD59-A6C34878D82A}">
                    <a16:rowId xmlns:a16="http://schemas.microsoft.com/office/drawing/2014/main" val="2576413500"/>
                  </a:ext>
                </a:extLst>
              </a:tr>
              <a:tr h="1437068">
                <a:tc>
                  <a:txBody>
                    <a:bodyPr/>
                    <a:lstStyle/>
                    <a:p>
                      <a:pPr algn="ctr"/>
                      <a:r>
                        <a:rPr lang="en-IN" sz="2400" dirty="0"/>
                        <a:t>Automatic Street Light Control</a:t>
                      </a:r>
                    </a:p>
                    <a:p>
                      <a:pPr marL="342900" indent="-342900" algn="ctr">
                        <a:buFontTx/>
                        <a:buChar char="-"/>
                      </a:pPr>
                      <a:r>
                        <a:rPr lang="en-IN" sz="2400" dirty="0"/>
                        <a:t>By Sudhakar &amp; Anil</a:t>
                      </a:r>
                    </a:p>
                    <a:p>
                      <a:pPr marL="0" indent="0" algn="ctr">
                        <a:buFontTx/>
                        <a:buNone/>
                      </a:pPr>
                      <a:r>
                        <a:rPr lang="en-IN" sz="4400" dirty="0"/>
                        <a:t>In 2013</a:t>
                      </a:r>
                    </a:p>
                  </a:txBody>
                  <a:tcPr/>
                </a:tc>
                <a:tc>
                  <a:txBody>
                    <a:bodyPr/>
                    <a:lstStyle/>
                    <a:p>
                      <a:pPr marL="285750" indent="-285750">
                        <a:buFont typeface="Arial" panose="020B0604020202020204" pitchFamily="34" charset="0"/>
                        <a:buChar char="•"/>
                      </a:pPr>
                      <a:r>
                        <a:rPr lang="en-US" sz="2000" dirty="0"/>
                        <a:t>Automatic Street Light Controlling System puts up a very user friendly approach and could increase the power saving. (uses LDR)</a:t>
                      </a:r>
                      <a:endParaRPr lang="en-IN" sz="2000" dirty="0"/>
                    </a:p>
                  </a:txBody>
                  <a:tcPr/>
                </a:tc>
                <a:extLst>
                  <a:ext uri="{0D108BD9-81ED-4DB2-BD59-A6C34878D82A}">
                    <a16:rowId xmlns:a16="http://schemas.microsoft.com/office/drawing/2014/main" val="2613745192"/>
                  </a:ext>
                </a:extLst>
              </a:tr>
              <a:tr h="1554380">
                <a:tc>
                  <a:txBody>
                    <a:bodyPr/>
                    <a:lstStyle/>
                    <a:p>
                      <a:pPr marL="0" indent="0" algn="ctr">
                        <a:buFontTx/>
                        <a:buNone/>
                      </a:pPr>
                      <a:r>
                        <a:rPr lang="en-IN" sz="2400" dirty="0"/>
                        <a:t>Automatic LED emergency Light</a:t>
                      </a:r>
                    </a:p>
                    <a:p>
                      <a:pPr marL="342900" indent="-342900" algn="ctr">
                        <a:buFontTx/>
                        <a:buChar char="-"/>
                      </a:pPr>
                      <a:r>
                        <a:rPr lang="en-IN" sz="2400" dirty="0"/>
                        <a:t>By </a:t>
                      </a:r>
                      <a:r>
                        <a:rPr lang="en-IN" sz="2400" dirty="0" err="1"/>
                        <a:t>Darshil</a:t>
                      </a:r>
                      <a:endParaRPr lang="en-IN" sz="2400" dirty="0"/>
                    </a:p>
                    <a:p>
                      <a:pPr marL="0" indent="0" algn="ctr">
                        <a:buFontTx/>
                        <a:buNone/>
                      </a:pPr>
                      <a:r>
                        <a:rPr lang="en-IN" sz="4400" dirty="0"/>
                        <a:t>In 2014</a:t>
                      </a:r>
                    </a:p>
                  </a:txBody>
                  <a:tcPr/>
                </a:tc>
                <a:tc>
                  <a:txBody>
                    <a:bodyPr/>
                    <a:lstStyle/>
                    <a:p>
                      <a:pPr marL="285750" indent="-285750" algn="just">
                        <a:buFont typeface="Arial" panose="020B0604020202020204" pitchFamily="34" charset="0"/>
                        <a:buChar char="•"/>
                      </a:pPr>
                      <a:r>
                        <a:rPr lang="en-US" sz="2000" b="0" i="0" kern="1200" dirty="0">
                          <a:solidFill>
                            <a:schemeClr val="tx1"/>
                          </a:solidFill>
                          <a:effectLst/>
                          <a:latin typeface="+mn-lt"/>
                          <a:ea typeface="+mn-ea"/>
                          <a:cs typeface="+mn-cs"/>
                        </a:rPr>
                        <a:t>Describes the design of an LED emergency light that switches on automatically when main power fails, keeps charging respectively.</a:t>
                      </a:r>
                    </a:p>
                    <a:p>
                      <a:pPr marL="285750" indent="-285750">
                        <a:buFont typeface="Arial" panose="020B0604020202020204" pitchFamily="34" charset="0"/>
                        <a:buChar char="•"/>
                      </a:pPr>
                      <a:endParaRPr lang="en-IN" sz="2000" dirty="0"/>
                    </a:p>
                  </a:txBody>
                  <a:tcPr/>
                </a:tc>
                <a:extLst>
                  <a:ext uri="{0D108BD9-81ED-4DB2-BD59-A6C34878D82A}">
                    <a16:rowId xmlns:a16="http://schemas.microsoft.com/office/drawing/2014/main" val="2215065786"/>
                  </a:ext>
                </a:extLst>
              </a:tr>
            </a:tbl>
          </a:graphicData>
        </a:graphic>
      </p:graphicFrame>
    </p:spTree>
    <p:extLst>
      <p:ext uri="{BB962C8B-B14F-4D97-AF65-F5344CB8AC3E}">
        <p14:creationId xmlns:p14="http://schemas.microsoft.com/office/powerpoint/2010/main" val="3582765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4E99-17AB-40FB-A885-214A2849C52E}"/>
              </a:ext>
            </a:extLst>
          </p:cNvPr>
          <p:cNvSpPr>
            <a:spLocks noGrp="1"/>
          </p:cNvSpPr>
          <p:nvPr>
            <p:ph type="title"/>
          </p:nvPr>
        </p:nvSpPr>
        <p:spPr/>
        <p:txBody>
          <a:bodyPr/>
          <a:lstStyle/>
          <a:p>
            <a:r>
              <a:rPr lang="en-IN" dirty="0"/>
              <a:t>OBJECTIVE OF THE EXISTING SYSTEM</a:t>
            </a:r>
          </a:p>
        </p:txBody>
      </p:sp>
      <p:sp>
        <p:nvSpPr>
          <p:cNvPr id="3" name="Content Placeholder 2">
            <a:extLst>
              <a:ext uri="{FF2B5EF4-FFF2-40B4-BE49-F238E27FC236}">
                <a16:creationId xmlns:a16="http://schemas.microsoft.com/office/drawing/2014/main" id="{F90B400F-2166-451F-B58F-6F732E776A46}"/>
              </a:ext>
            </a:extLst>
          </p:cNvPr>
          <p:cNvSpPr>
            <a:spLocks noGrp="1"/>
          </p:cNvSpPr>
          <p:nvPr>
            <p:ph idx="1"/>
          </p:nvPr>
        </p:nvSpPr>
        <p:spPr/>
        <p:txBody>
          <a:bodyPr>
            <a:normAutofit/>
          </a:bodyPr>
          <a:lstStyle/>
          <a:p>
            <a:pPr algn="just"/>
            <a:endParaRPr lang="en-US" sz="3600" dirty="0"/>
          </a:p>
          <a:p>
            <a:pPr marL="0" indent="0" algn="just">
              <a:buNone/>
            </a:pPr>
            <a:endParaRPr lang="en-US" sz="3600" dirty="0"/>
          </a:p>
          <a:p>
            <a:pPr algn="just"/>
            <a:r>
              <a:rPr lang="en-US" sz="3600" dirty="0"/>
              <a:t>To automatically turn on/off the lights.</a:t>
            </a:r>
          </a:p>
          <a:p>
            <a:pPr algn="just"/>
            <a:r>
              <a:rPr lang="en-US" sz="3600" dirty="0"/>
              <a:t>To control the room’s brightness.</a:t>
            </a:r>
          </a:p>
        </p:txBody>
      </p:sp>
    </p:spTree>
    <p:extLst>
      <p:ext uri="{BB962C8B-B14F-4D97-AF65-F5344CB8AC3E}">
        <p14:creationId xmlns:p14="http://schemas.microsoft.com/office/powerpoint/2010/main" val="1104863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48156-F576-4532-9A4B-B03163310C94}"/>
              </a:ext>
            </a:extLst>
          </p:cNvPr>
          <p:cNvSpPr>
            <a:spLocks noGrp="1"/>
          </p:cNvSpPr>
          <p:nvPr>
            <p:ph type="title"/>
          </p:nvPr>
        </p:nvSpPr>
        <p:spPr/>
        <p:txBody>
          <a:bodyPr/>
          <a:lstStyle/>
          <a:p>
            <a:r>
              <a:rPr lang="en-IN" dirty="0"/>
              <a:t>DISADVANTAGES OF EXISTING SYSTEM</a:t>
            </a:r>
          </a:p>
        </p:txBody>
      </p:sp>
      <p:sp>
        <p:nvSpPr>
          <p:cNvPr id="3" name="Content Placeholder 2">
            <a:extLst>
              <a:ext uri="{FF2B5EF4-FFF2-40B4-BE49-F238E27FC236}">
                <a16:creationId xmlns:a16="http://schemas.microsoft.com/office/drawing/2014/main" id="{BCC94131-C302-4E98-8C3B-1EE61D80BA9F}"/>
              </a:ext>
            </a:extLst>
          </p:cNvPr>
          <p:cNvSpPr>
            <a:spLocks noGrp="1"/>
          </p:cNvSpPr>
          <p:nvPr>
            <p:ph idx="1"/>
          </p:nvPr>
        </p:nvSpPr>
        <p:spPr/>
        <p:txBody>
          <a:bodyPr>
            <a:normAutofit/>
          </a:bodyPr>
          <a:lstStyle/>
          <a:p>
            <a:pPr algn="just"/>
            <a:endParaRPr lang="en-IN" sz="3600" dirty="0"/>
          </a:p>
          <a:p>
            <a:pPr algn="just"/>
            <a:endParaRPr lang="en-IN" sz="3600" dirty="0"/>
          </a:p>
          <a:p>
            <a:pPr algn="just"/>
            <a:r>
              <a:rPr lang="en-IN" sz="3600" dirty="0"/>
              <a:t>Troubleshoot is difficult.</a:t>
            </a:r>
          </a:p>
          <a:p>
            <a:pPr algn="just"/>
            <a:r>
              <a:rPr lang="en-IN" sz="3600" dirty="0"/>
              <a:t>Can’t count the persons in room.</a:t>
            </a:r>
          </a:p>
          <a:p>
            <a:pPr algn="just"/>
            <a:r>
              <a:rPr lang="en-IN" sz="3600" dirty="0"/>
              <a:t>Window blinds can’t be controlled.</a:t>
            </a:r>
          </a:p>
        </p:txBody>
      </p:sp>
    </p:spTree>
    <p:extLst>
      <p:ext uri="{BB962C8B-B14F-4D97-AF65-F5344CB8AC3E}">
        <p14:creationId xmlns:p14="http://schemas.microsoft.com/office/powerpoint/2010/main" val="3090270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D23CC-4DB3-4669-B1D7-A34C9B5ABB1E}"/>
              </a:ext>
            </a:extLst>
          </p:cNvPr>
          <p:cNvSpPr>
            <a:spLocks noGrp="1"/>
          </p:cNvSpPr>
          <p:nvPr>
            <p:ph type="title"/>
          </p:nvPr>
        </p:nvSpPr>
        <p:spPr/>
        <p:txBody>
          <a:bodyPr/>
          <a:lstStyle/>
          <a:p>
            <a:r>
              <a:rPr lang="en-IN" dirty="0"/>
              <a:t>Objective of proposed system</a:t>
            </a:r>
          </a:p>
        </p:txBody>
      </p:sp>
      <p:sp>
        <p:nvSpPr>
          <p:cNvPr id="3" name="Content Placeholder 2">
            <a:extLst>
              <a:ext uri="{FF2B5EF4-FFF2-40B4-BE49-F238E27FC236}">
                <a16:creationId xmlns:a16="http://schemas.microsoft.com/office/drawing/2014/main" id="{0E064FFD-64A6-47FF-8124-CFE134CF92C4}"/>
              </a:ext>
            </a:extLst>
          </p:cNvPr>
          <p:cNvSpPr>
            <a:spLocks noGrp="1"/>
          </p:cNvSpPr>
          <p:nvPr>
            <p:ph idx="1"/>
          </p:nvPr>
        </p:nvSpPr>
        <p:spPr/>
        <p:txBody>
          <a:bodyPr>
            <a:normAutofit/>
          </a:bodyPr>
          <a:lstStyle/>
          <a:p>
            <a:pPr marL="0" indent="0" algn="just">
              <a:buNone/>
            </a:pPr>
            <a:endParaRPr lang="en-US" sz="3600" dirty="0"/>
          </a:p>
          <a:p>
            <a:pPr algn="just"/>
            <a:r>
              <a:rPr lang="en-US" sz="3600" dirty="0"/>
              <a:t>To automatically turn on/off the lights.</a:t>
            </a:r>
          </a:p>
          <a:p>
            <a:pPr algn="just"/>
            <a:r>
              <a:rPr lang="en-US" sz="3600" dirty="0"/>
              <a:t>To control the room’s brightness(control the intensity of brightness, window blind).</a:t>
            </a:r>
          </a:p>
          <a:p>
            <a:pPr algn="just"/>
            <a:r>
              <a:rPr lang="en-US" sz="3600" dirty="0"/>
              <a:t>To count the number of people in the room.</a:t>
            </a:r>
          </a:p>
        </p:txBody>
      </p:sp>
    </p:spTree>
    <p:extLst>
      <p:ext uri="{BB962C8B-B14F-4D97-AF65-F5344CB8AC3E}">
        <p14:creationId xmlns:p14="http://schemas.microsoft.com/office/powerpoint/2010/main" val="1839603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A07D-1EA4-5B9A-F32A-946397B4A48B}"/>
              </a:ext>
            </a:extLst>
          </p:cNvPr>
          <p:cNvSpPr>
            <a:spLocks noGrp="1"/>
          </p:cNvSpPr>
          <p:nvPr>
            <p:ph type="title"/>
          </p:nvPr>
        </p:nvSpPr>
        <p:spPr/>
        <p:txBody>
          <a:bodyPr/>
          <a:lstStyle/>
          <a:p>
            <a:r>
              <a:rPr lang="en-IN" dirty="0"/>
              <a:t>ADVANTAGES OF PROPOSED SYSTEM</a:t>
            </a:r>
          </a:p>
        </p:txBody>
      </p:sp>
      <p:sp>
        <p:nvSpPr>
          <p:cNvPr id="3" name="Content Placeholder 2">
            <a:extLst>
              <a:ext uri="{FF2B5EF4-FFF2-40B4-BE49-F238E27FC236}">
                <a16:creationId xmlns:a16="http://schemas.microsoft.com/office/drawing/2014/main" id="{6230F646-3CFB-9522-2E6F-D275D00B8807}"/>
              </a:ext>
            </a:extLst>
          </p:cNvPr>
          <p:cNvSpPr>
            <a:spLocks noGrp="1"/>
          </p:cNvSpPr>
          <p:nvPr>
            <p:ph idx="1"/>
          </p:nvPr>
        </p:nvSpPr>
        <p:spPr/>
        <p:txBody>
          <a:bodyPr>
            <a:normAutofit/>
          </a:bodyPr>
          <a:lstStyle/>
          <a:p>
            <a:endParaRPr lang="en-IN" sz="3600" dirty="0"/>
          </a:p>
          <a:p>
            <a:endParaRPr lang="en-IN" sz="3600" dirty="0"/>
          </a:p>
          <a:p>
            <a:pPr algn="just"/>
            <a:r>
              <a:rPr lang="en-IN" sz="3600" dirty="0"/>
              <a:t>Troubleshoot of problem is simple.</a:t>
            </a:r>
          </a:p>
          <a:p>
            <a:pPr algn="just"/>
            <a:r>
              <a:rPr lang="en-IN" sz="3600" dirty="0"/>
              <a:t>Manual assistance is reduced.</a:t>
            </a:r>
          </a:p>
          <a:p>
            <a:pPr algn="just"/>
            <a:r>
              <a:rPr lang="en-IN" sz="3600" dirty="0"/>
              <a:t>Can count the person’s in room.</a:t>
            </a:r>
          </a:p>
        </p:txBody>
      </p:sp>
    </p:spTree>
    <p:extLst>
      <p:ext uri="{BB962C8B-B14F-4D97-AF65-F5344CB8AC3E}">
        <p14:creationId xmlns:p14="http://schemas.microsoft.com/office/powerpoint/2010/main" val="1949436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53EB6-C206-454C-8549-B2DDC951609F}"/>
              </a:ext>
            </a:extLst>
          </p:cNvPr>
          <p:cNvSpPr>
            <a:spLocks noGrp="1"/>
          </p:cNvSpPr>
          <p:nvPr>
            <p:ph type="title"/>
          </p:nvPr>
        </p:nvSpPr>
        <p:spPr/>
        <p:txBody>
          <a:bodyPr/>
          <a:lstStyle/>
          <a:p>
            <a:r>
              <a:rPr lang="en-IN" dirty="0"/>
              <a:t>HARDWARE IMPLEMENTATION</a:t>
            </a:r>
          </a:p>
        </p:txBody>
      </p:sp>
      <p:sp>
        <p:nvSpPr>
          <p:cNvPr id="3" name="Content Placeholder 2">
            <a:extLst>
              <a:ext uri="{FF2B5EF4-FFF2-40B4-BE49-F238E27FC236}">
                <a16:creationId xmlns:a16="http://schemas.microsoft.com/office/drawing/2014/main" id="{B1BDA954-C441-4AAB-93A8-E835EAEFCC7D}"/>
              </a:ext>
            </a:extLst>
          </p:cNvPr>
          <p:cNvSpPr>
            <a:spLocks noGrp="1"/>
          </p:cNvSpPr>
          <p:nvPr>
            <p:ph idx="1"/>
          </p:nvPr>
        </p:nvSpPr>
        <p:spPr/>
        <p:txBody>
          <a:bodyPr>
            <a:normAutofit/>
          </a:bodyPr>
          <a:lstStyle/>
          <a:p>
            <a:pPr marL="0" indent="0" algn="just">
              <a:buNone/>
            </a:pPr>
            <a:endParaRPr lang="en-IN" sz="3600" dirty="0"/>
          </a:p>
          <a:p>
            <a:pPr algn="just"/>
            <a:r>
              <a:rPr lang="en-IN" sz="3600" dirty="0"/>
              <a:t>Door sensor</a:t>
            </a:r>
          </a:p>
          <a:p>
            <a:pPr algn="just"/>
            <a:r>
              <a:rPr lang="en-IN" sz="3600" dirty="0"/>
              <a:t>Light Sensor</a:t>
            </a:r>
          </a:p>
          <a:p>
            <a:pPr algn="just"/>
            <a:r>
              <a:rPr lang="en-IN" sz="3600" dirty="0"/>
              <a:t>Motorized Window Blind</a:t>
            </a:r>
          </a:p>
        </p:txBody>
      </p:sp>
      <p:pic>
        <p:nvPicPr>
          <p:cNvPr id="5" name="Picture 4">
            <a:extLst>
              <a:ext uri="{FF2B5EF4-FFF2-40B4-BE49-F238E27FC236}">
                <a16:creationId xmlns:a16="http://schemas.microsoft.com/office/drawing/2014/main" id="{8C454A83-0C08-46F0-9D3C-1FDA3E22C0E2}"/>
              </a:ext>
            </a:extLst>
          </p:cNvPr>
          <p:cNvPicPr>
            <a:picLocks noChangeAspect="1"/>
          </p:cNvPicPr>
          <p:nvPr/>
        </p:nvPicPr>
        <p:blipFill>
          <a:blip r:embed="rId2"/>
          <a:stretch>
            <a:fillRect/>
          </a:stretch>
        </p:blipFill>
        <p:spPr>
          <a:xfrm>
            <a:off x="7855580" y="3060834"/>
            <a:ext cx="3973869" cy="3472313"/>
          </a:xfrm>
          <a:prstGeom prst="rect">
            <a:avLst/>
          </a:prstGeom>
        </p:spPr>
      </p:pic>
    </p:spTree>
    <p:extLst>
      <p:ext uri="{BB962C8B-B14F-4D97-AF65-F5344CB8AC3E}">
        <p14:creationId xmlns:p14="http://schemas.microsoft.com/office/powerpoint/2010/main" val="274855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12BA8-E1F4-4270-AD0D-30252037E8E1}"/>
              </a:ext>
            </a:extLst>
          </p:cNvPr>
          <p:cNvSpPr>
            <a:spLocks noGrp="1"/>
          </p:cNvSpPr>
          <p:nvPr>
            <p:ph type="title"/>
          </p:nvPr>
        </p:nvSpPr>
        <p:spPr/>
        <p:txBody>
          <a:bodyPr/>
          <a:lstStyle/>
          <a:p>
            <a:r>
              <a:rPr lang="en-IN" dirty="0"/>
              <a:t>SOFTWARE IMPLEMENTATION</a:t>
            </a:r>
          </a:p>
        </p:txBody>
      </p:sp>
      <p:sp>
        <p:nvSpPr>
          <p:cNvPr id="3" name="Content Placeholder 2">
            <a:extLst>
              <a:ext uri="{FF2B5EF4-FFF2-40B4-BE49-F238E27FC236}">
                <a16:creationId xmlns:a16="http://schemas.microsoft.com/office/drawing/2014/main" id="{B9C3DEE2-163A-4473-B533-5BD0996A37EF}"/>
              </a:ext>
            </a:extLst>
          </p:cNvPr>
          <p:cNvSpPr>
            <a:spLocks noGrp="1"/>
          </p:cNvSpPr>
          <p:nvPr>
            <p:ph idx="1"/>
          </p:nvPr>
        </p:nvSpPr>
        <p:spPr/>
        <p:txBody>
          <a:bodyPr>
            <a:normAutofit/>
          </a:bodyPr>
          <a:lstStyle/>
          <a:p>
            <a:pPr marL="0" indent="0">
              <a:buNone/>
            </a:pPr>
            <a:endParaRPr lang="en-IN" sz="3600" dirty="0"/>
          </a:p>
          <a:p>
            <a:pPr algn="just"/>
            <a:r>
              <a:rPr lang="en-IN" sz="3600" dirty="0"/>
              <a:t>Programming ATmega16C</a:t>
            </a:r>
          </a:p>
          <a:p>
            <a:pPr algn="just"/>
            <a:r>
              <a:rPr lang="en-IN" sz="3600" dirty="0"/>
              <a:t>Automatic Operation</a:t>
            </a:r>
          </a:p>
          <a:p>
            <a:pPr algn="just"/>
            <a:r>
              <a:rPr lang="en-IN" sz="3600" dirty="0"/>
              <a:t>Choose from certain modes</a:t>
            </a:r>
          </a:p>
        </p:txBody>
      </p:sp>
      <p:pic>
        <p:nvPicPr>
          <p:cNvPr id="5" name="Picture 4">
            <a:extLst>
              <a:ext uri="{FF2B5EF4-FFF2-40B4-BE49-F238E27FC236}">
                <a16:creationId xmlns:a16="http://schemas.microsoft.com/office/drawing/2014/main" id="{5CA7768B-6213-463F-9086-398BDBF93B56}"/>
              </a:ext>
            </a:extLst>
          </p:cNvPr>
          <p:cNvPicPr>
            <a:picLocks noChangeAspect="1"/>
          </p:cNvPicPr>
          <p:nvPr/>
        </p:nvPicPr>
        <p:blipFill>
          <a:blip r:embed="rId2"/>
          <a:stretch>
            <a:fillRect/>
          </a:stretch>
        </p:blipFill>
        <p:spPr>
          <a:xfrm>
            <a:off x="5269261" y="4687503"/>
            <a:ext cx="6716999" cy="2057468"/>
          </a:xfrm>
          <a:prstGeom prst="rect">
            <a:avLst/>
          </a:prstGeom>
        </p:spPr>
      </p:pic>
    </p:spTree>
    <p:extLst>
      <p:ext uri="{BB962C8B-B14F-4D97-AF65-F5344CB8AC3E}">
        <p14:creationId xmlns:p14="http://schemas.microsoft.com/office/powerpoint/2010/main" val="708942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736554B-F572-A157-D153-DEA9AD359C79}"/>
              </a:ext>
            </a:extLst>
          </p:cNvPr>
          <p:cNvGraphicFramePr>
            <a:graphicFrameLocks noGrp="1"/>
          </p:cNvGraphicFramePr>
          <p:nvPr>
            <p:extLst>
              <p:ext uri="{D42A27DB-BD31-4B8C-83A1-F6EECF244321}">
                <p14:modId xmlns:p14="http://schemas.microsoft.com/office/powerpoint/2010/main" val="1713012911"/>
              </p:ext>
            </p:extLst>
          </p:nvPr>
        </p:nvGraphicFramePr>
        <p:xfrm>
          <a:off x="824564" y="2075087"/>
          <a:ext cx="10976008" cy="3931077"/>
        </p:xfrm>
        <a:graphic>
          <a:graphicData uri="http://schemas.openxmlformats.org/drawingml/2006/table">
            <a:tbl>
              <a:tblPr firstRow="1" bandRow="1">
                <a:tableStyleId>{5940675A-B579-460E-94D1-54222C63F5DA}</a:tableStyleId>
              </a:tblPr>
              <a:tblGrid>
                <a:gridCol w="2733575">
                  <a:extLst>
                    <a:ext uri="{9D8B030D-6E8A-4147-A177-3AD203B41FA5}">
                      <a16:colId xmlns:a16="http://schemas.microsoft.com/office/drawing/2014/main" val="3237954436"/>
                    </a:ext>
                  </a:extLst>
                </a:gridCol>
                <a:gridCol w="1796257">
                  <a:extLst>
                    <a:ext uri="{9D8B030D-6E8A-4147-A177-3AD203B41FA5}">
                      <a16:colId xmlns:a16="http://schemas.microsoft.com/office/drawing/2014/main" val="2684402645"/>
                    </a:ext>
                  </a:extLst>
                </a:gridCol>
                <a:gridCol w="1611544">
                  <a:extLst>
                    <a:ext uri="{9D8B030D-6E8A-4147-A177-3AD203B41FA5}">
                      <a16:colId xmlns:a16="http://schemas.microsoft.com/office/drawing/2014/main" val="877760693"/>
                    </a:ext>
                  </a:extLst>
                </a:gridCol>
                <a:gridCol w="1542793">
                  <a:extLst>
                    <a:ext uri="{9D8B030D-6E8A-4147-A177-3AD203B41FA5}">
                      <a16:colId xmlns:a16="http://schemas.microsoft.com/office/drawing/2014/main" val="3754998977"/>
                    </a:ext>
                  </a:extLst>
                </a:gridCol>
                <a:gridCol w="1680295">
                  <a:extLst>
                    <a:ext uri="{9D8B030D-6E8A-4147-A177-3AD203B41FA5}">
                      <a16:colId xmlns:a16="http://schemas.microsoft.com/office/drawing/2014/main" val="2543869757"/>
                    </a:ext>
                  </a:extLst>
                </a:gridCol>
                <a:gridCol w="1611544">
                  <a:extLst>
                    <a:ext uri="{9D8B030D-6E8A-4147-A177-3AD203B41FA5}">
                      <a16:colId xmlns:a16="http://schemas.microsoft.com/office/drawing/2014/main" val="3526294929"/>
                    </a:ext>
                  </a:extLst>
                </a:gridCol>
              </a:tblGrid>
              <a:tr h="1171507">
                <a:tc>
                  <a:txBody>
                    <a:bodyPr/>
                    <a:lstStyle/>
                    <a:p>
                      <a:pPr algn="ctr">
                        <a:lnSpc>
                          <a:spcPct val="150000"/>
                        </a:lnSpc>
                      </a:pPr>
                      <a:r>
                        <a:rPr lang="en-IN" sz="2000" dirty="0"/>
                        <a:t>AUTHORS AND YEAR</a:t>
                      </a:r>
                    </a:p>
                  </a:txBody>
                  <a:tcPr/>
                </a:tc>
                <a:tc>
                  <a:txBody>
                    <a:bodyPr/>
                    <a:lstStyle/>
                    <a:p>
                      <a:pPr algn="ctr">
                        <a:lnSpc>
                          <a:spcPct val="150000"/>
                        </a:lnSpc>
                      </a:pPr>
                      <a:r>
                        <a:rPr lang="en-IN" sz="2000" dirty="0"/>
                        <a:t>EXISTING SYSTEM</a:t>
                      </a:r>
                    </a:p>
                  </a:txBody>
                  <a:tcPr/>
                </a:tc>
                <a:tc>
                  <a:txBody>
                    <a:bodyPr/>
                    <a:lstStyle/>
                    <a:p>
                      <a:pPr algn="ctr">
                        <a:lnSpc>
                          <a:spcPct val="150000"/>
                        </a:lnSpc>
                      </a:pPr>
                      <a:r>
                        <a:rPr lang="en-IN" sz="2000" dirty="0"/>
                        <a:t>PROPOSED SYSTEM</a:t>
                      </a:r>
                    </a:p>
                  </a:txBody>
                  <a:tcPr/>
                </a:tc>
                <a:tc>
                  <a:txBody>
                    <a:bodyPr/>
                    <a:lstStyle/>
                    <a:p>
                      <a:pPr algn="ctr">
                        <a:lnSpc>
                          <a:spcPct val="150000"/>
                        </a:lnSpc>
                      </a:pPr>
                      <a:r>
                        <a:rPr lang="en-IN" sz="1800" dirty="0"/>
                        <a:t>METHODOLOGY</a:t>
                      </a:r>
                    </a:p>
                  </a:txBody>
                  <a:tcPr/>
                </a:tc>
                <a:tc>
                  <a:txBody>
                    <a:bodyPr/>
                    <a:lstStyle/>
                    <a:p>
                      <a:pPr algn="ctr">
                        <a:lnSpc>
                          <a:spcPct val="150000"/>
                        </a:lnSpc>
                      </a:pPr>
                      <a:r>
                        <a:rPr lang="en-IN" dirty="0"/>
                        <a:t>ADVANTAGES</a:t>
                      </a:r>
                    </a:p>
                  </a:txBody>
                  <a:tcPr/>
                </a:tc>
                <a:tc>
                  <a:txBody>
                    <a:bodyPr/>
                    <a:lstStyle/>
                    <a:p>
                      <a:pPr>
                        <a:lnSpc>
                          <a:spcPct val="150000"/>
                        </a:lnSpc>
                      </a:pPr>
                      <a:r>
                        <a:rPr lang="en-IN" dirty="0"/>
                        <a:t>DISADVANTAGES</a:t>
                      </a:r>
                    </a:p>
                  </a:txBody>
                  <a:tcPr/>
                </a:tc>
                <a:extLst>
                  <a:ext uri="{0D108BD9-81ED-4DB2-BD59-A6C34878D82A}">
                    <a16:rowId xmlns:a16="http://schemas.microsoft.com/office/drawing/2014/main" val="231984487"/>
                  </a:ext>
                </a:extLst>
              </a:tr>
              <a:tr h="2759570">
                <a:tc>
                  <a:txBody>
                    <a:bodyPr/>
                    <a:lstStyle/>
                    <a:p>
                      <a:r>
                        <a:rPr lang="en-IN" sz="2000" b="0" dirty="0"/>
                        <a:t>Dhiraj </a:t>
                      </a:r>
                      <a:r>
                        <a:rPr lang="en-IN" sz="2000" b="0" dirty="0" err="1"/>
                        <a:t>Sunehra</a:t>
                      </a:r>
                      <a:r>
                        <a:rPr lang="en-IN" sz="2000" b="0" dirty="0"/>
                        <a:t> &amp; Sangem </a:t>
                      </a:r>
                      <a:r>
                        <a:rPr lang="en-IN" sz="2000" b="0" dirty="0" err="1"/>
                        <a:t>Rajasri</a:t>
                      </a:r>
                      <a:endParaRPr lang="en-IN" sz="2000" b="0" dirty="0"/>
                    </a:p>
                  </a:txBody>
                  <a:tcPr/>
                </a:tc>
                <a:tc>
                  <a:txBody>
                    <a:bodyPr/>
                    <a:lstStyle/>
                    <a:p>
                      <a:r>
                        <a:rPr lang="en-US" sz="2000" b="0" i="0" kern="1200" dirty="0">
                          <a:solidFill>
                            <a:schemeClr val="tx1"/>
                          </a:solidFill>
                          <a:effectLst/>
                          <a:latin typeface="+mn-lt"/>
                          <a:ea typeface="+mn-ea"/>
                          <a:cs typeface="+mn-cs"/>
                        </a:rPr>
                        <a:t>Conventional street light manually controlled</a:t>
                      </a:r>
                      <a:endParaRPr lang="en-IN" sz="2000" dirty="0"/>
                    </a:p>
                  </a:txBody>
                  <a:tcPr/>
                </a:tc>
                <a:tc>
                  <a:txBody>
                    <a:bodyPr/>
                    <a:lstStyle/>
                    <a:p>
                      <a:r>
                        <a:rPr lang="en-US" sz="1800" b="0" i="0" kern="1200" dirty="0">
                          <a:solidFill>
                            <a:schemeClr val="tx1"/>
                          </a:solidFill>
                          <a:effectLst/>
                          <a:latin typeface="+mn-lt"/>
                          <a:ea typeface="+mn-ea"/>
                          <a:cs typeface="+mn-cs"/>
                        </a:rPr>
                        <a:t>Automatic street light control system wireless sensor networks (WSN)</a:t>
                      </a:r>
                      <a:endParaRPr lang="en-IN" dirty="0"/>
                    </a:p>
                  </a:txBody>
                  <a:tcPr/>
                </a:tc>
                <a:tc>
                  <a:txBody>
                    <a:bodyPr/>
                    <a:lstStyle/>
                    <a:p>
                      <a:r>
                        <a:rPr lang="en-IN" dirty="0"/>
                        <a:t>PIR,LDR and LEDs are used for automatic light control</a:t>
                      </a:r>
                    </a:p>
                  </a:txBody>
                  <a:tcPr/>
                </a:tc>
                <a:tc>
                  <a:txBody>
                    <a:bodyPr/>
                    <a:lstStyle/>
                    <a:p>
                      <a:r>
                        <a:rPr lang="en-IN" dirty="0"/>
                        <a:t>Reduce the energy consumption</a:t>
                      </a:r>
                    </a:p>
                  </a:txBody>
                  <a:tcPr/>
                </a:tc>
                <a:tc>
                  <a:txBody>
                    <a:bodyPr/>
                    <a:lstStyle/>
                    <a:p>
                      <a:r>
                        <a:rPr lang="en-IN" dirty="0"/>
                        <a:t>Batteries should be changed frequently.</a:t>
                      </a:r>
                    </a:p>
                  </a:txBody>
                  <a:tcPr/>
                </a:tc>
                <a:extLst>
                  <a:ext uri="{0D108BD9-81ED-4DB2-BD59-A6C34878D82A}">
                    <a16:rowId xmlns:a16="http://schemas.microsoft.com/office/drawing/2014/main" val="1262815588"/>
                  </a:ext>
                </a:extLst>
              </a:tr>
            </a:tbl>
          </a:graphicData>
        </a:graphic>
      </p:graphicFrame>
      <p:sp>
        <p:nvSpPr>
          <p:cNvPr id="5" name="TextBox 4">
            <a:extLst>
              <a:ext uri="{FF2B5EF4-FFF2-40B4-BE49-F238E27FC236}">
                <a16:creationId xmlns:a16="http://schemas.microsoft.com/office/drawing/2014/main" id="{4D01D501-0DB2-D2CE-BD29-396E9390873E}"/>
              </a:ext>
            </a:extLst>
          </p:cNvPr>
          <p:cNvSpPr txBox="1"/>
          <p:nvPr/>
        </p:nvSpPr>
        <p:spPr>
          <a:xfrm>
            <a:off x="1540043" y="1227591"/>
            <a:ext cx="10260530" cy="461665"/>
          </a:xfrm>
          <a:prstGeom prst="rect">
            <a:avLst/>
          </a:prstGeom>
          <a:noFill/>
        </p:spPr>
        <p:txBody>
          <a:bodyPr wrap="square" rtlCol="0">
            <a:spAutoFit/>
          </a:bodyPr>
          <a:lstStyle/>
          <a:p>
            <a:r>
              <a:rPr lang="en-US" sz="2400" dirty="0"/>
              <a:t>Automatic street light control system using wireless sensor networks</a:t>
            </a:r>
            <a:endParaRPr lang="en-IN" sz="2400" dirty="0"/>
          </a:p>
        </p:txBody>
      </p:sp>
      <p:sp>
        <p:nvSpPr>
          <p:cNvPr id="6" name="TextBox 5">
            <a:extLst>
              <a:ext uri="{FF2B5EF4-FFF2-40B4-BE49-F238E27FC236}">
                <a16:creationId xmlns:a16="http://schemas.microsoft.com/office/drawing/2014/main" id="{2D6FBFDE-D516-0680-F30D-045301B15E63}"/>
              </a:ext>
            </a:extLst>
          </p:cNvPr>
          <p:cNvSpPr txBox="1"/>
          <p:nvPr/>
        </p:nvSpPr>
        <p:spPr>
          <a:xfrm>
            <a:off x="10241280" y="581260"/>
            <a:ext cx="3118585" cy="646331"/>
          </a:xfrm>
          <a:prstGeom prst="rect">
            <a:avLst/>
          </a:prstGeom>
          <a:noFill/>
        </p:spPr>
        <p:txBody>
          <a:bodyPr wrap="square" rtlCol="0">
            <a:spAutoFit/>
          </a:bodyPr>
          <a:lstStyle/>
          <a:p>
            <a:r>
              <a:rPr lang="en-IN" sz="3600" dirty="0"/>
              <a:t>TITLE:</a:t>
            </a:r>
          </a:p>
        </p:txBody>
      </p:sp>
    </p:spTree>
    <p:extLst>
      <p:ext uri="{BB962C8B-B14F-4D97-AF65-F5344CB8AC3E}">
        <p14:creationId xmlns:p14="http://schemas.microsoft.com/office/powerpoint/2010/main" val="2208749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6A307-C12D-D2FA-C586-65ADE010495F}"/>
              </a:ext>
            </a:extLst>
          </p:cNvPr>
          <p:cNvSpPr>
            <a:spLocks noGrp="1"/>
          </p:cNvSpPr>
          <p:nvPr>
            <p:ph type="title"/>
          </p:nvPr>
        </p:nvSpPr>
        <p:spPr>
          <a:xfrm>
            <a:off x="1424539" y="764373"/>
            <a:ext cx="10081661" cy="1293028"/>
          </a:xfrm>
        </p:spPr>
        <p:txBody>
          <a:bodyPr>
            <a:normAutofit fontScale="90000"/>
          </a:bodyPr>
          <a:lstStyle/>
          <a:p>
            <a:r>
              <a:rPr lang="en-IN" dirty="0"/>
              <a:t>TITLE:</a:t>
            </a:r>
            <a:br>
              <a:rPr lang="en-IN" dirty="0"/>
            </a:br>
            <a:r>
              <a:rPr lang="en-US" dirty="0"/>
              <a:t>Automatic Street Light Control System</a:t>
            </a:r>
            <a:endParaRPr lang="en-IN" dirty="0"/>
          </a:p>
        </p:txBody>
      </p:sp>
      <p:graphicFrame>
        <p:nvGraphicFramePr>
          <p:cNvPr id="6" name="Table 5">
            <a:extLst>
              <a:ext uri="{FF2B5EF4-FFF2-40B4-BE49-F238E27FC236}">
                <a16:creationId xmlns:a16="http://schemas.microsoft.com/office/drawing/2014/main" id="{B12BFD5A-AA13-E0F8-B12E-EEC7B06D53A4}"/>
              </a:ext>
            </a:extLst>
          </p:cNvPr>
          <p:cNvGraphicFramePr>
            <a:graphicFrameLocks noGrp="1"/>
          </p:cNvGraphicFramePr>
          <p:nvPr>
            <p:extLst>
              <p:ext uri="{D42A27DB-BD31-4B8C-83A1-F6EECF244321}">
                <p14:modId xmlns:p14="http://schemas.microsoft.com/office/powerpoint/2010/main" val="787754723"/>
              </p:ext>
            </p:extLst>
          </p:nvPr>
        </p:nvGraphicFramePr>
        <p:xfrm>
          <a:off x="685800" y="2193925"/>
          <a:ext cx="10976008" cy="3812239"/>
        </p:xfrm>
        <a:graphic>
          <a:graphicData uri="http://schemas.openxmlformats.org/drawingml/2006/table">
            <a:tbl>
              <a:tblPr firstRow="1" bandRow="1">
                <a:tableStyleId>{5940675A-B579-460E-94D1-54222C63F5DA}</a:tableStyleId>
              </a:tblPr>
              <a:tblGrid>
                <a:gridCol w="2733575">
                  <a:extLst>
                    <a:ext uri="{9D8B030D-6E8A-4147-A177-3AD203B41FA5}">
                      <a16:colId xmlns:a16="http://schemas.microsoft.com/office/drawing/2014/main" val="640840359"/>
                    </a:ext>
                  </a:extLst>
                </a:gridCol>
                <a:gridCol w="1796257">
                  <a:extLst>
                    <a:ext uri="{9D8B030D-6E8A-4147-A177-3AD203B41FA5}">
                      <a16:colId xmlns:a16="http://schemas.microsoft.com/office/drawing/2014/main" val="1893864528"/>
                    </a:ext>
                  </a:extLst>
                </a:gridCol>
                <a:gridCol w="1611544">
                  <a:extLst>
                    <a:ext uri="{9D8B030D-6E8A-4147-A177-3AD203B41FA5}">
                      <a16:colId xmlns:a16="http://schemas.microsoft.com/office/drawing/2014/main" val="3813028491"/>
                    </a:ext>
                  </a:extLst>
                </a:gridCol>
                <a:gridCol w="1542793">
                  <a:extLst>
                    <a:ext uri="{9D8B030D-6E8A-4147-A177-3AD203B41FA5}">
                      <a16:colId xmlns:a16="http://schemas.microsoft.com/office/drawing/2014/main" val="3436032909"/>
                    </a:ext>
                  </a:extLst>
                </a:gridCol>
                <a:gridCol w="1680295">
                  <a:extLst>
                    <a:ext uri="{9D8B030D-6E8A-4147-A177-3AD203B41FA5}">
                      <a16:colId xmlns:a16="http://schemas.microsoft.com/office/drawing/2014/main" val="3141294738"/>
                    </a:ext>
                  </a:extLst>
                </a:gridCol>
                <a:gridCol w="1611544">
                  <a:extLst>
                    <a:ext uri="{9D8B030D-6E8A-4147-A177-3AD203B41FA5}">
                      <a16:colId xmlns:a16="http://schemas.microsoft.com/office/drawing/2014/main" val="2690177779"/>
                    </a:ext>
                  </a:extLst>
                </a:gridCol>
              </a:tblGrid>
              <a:tr h="1520295">
                <a:tc>
                  <a:txBody>
                    <a:bodyPr/>
                    <a:lstStyle/>
                    <a:p>
                      <a:pPr algn="ctr">
                        <a:lnSpc>
                          <a:spcPct val="150000"/>
                        </a:lnSpc>
                      </a:pPr>
                      <a:r>
                        <a:rPr lang="en-IN" sz="2000" dirty="0"/>
                        <a:t>AUTHORS AND YEAR</a:t>
                      </a:r>
                    </a:p>
                  </a:txBody>
                  <a:tcPr/>
                </a:tc>
                <a:tc>
                  <a:txBody>
                    <a:bodyPr/>
                    <a:lstStyle/>
                    <a:p>
                      <a:pPr algn="ctr">
                        <a:lnSpc>
                          <a:spcPct val="150000"/>
                        </a:lnSpc>
                      </a:pPr>
                      <a:r>
                        <a:rPr lang="en-IN" sz="2000" dirty="0"/>
                        <a:t>EXISTING SYSTEM</a:t>
                      </a:r>
                    </a:p>
                  </a:txBody>
                  <a:tcPr/>
                </a:tc>
                <a:tc>
                  <a:txBody>
                    <a:bodyPr/>
                    <a:lstStyle/>
                    <a:p>
                      <a:pPr algn="ctr">
                        <a:lnSpc>
                          <a:spcPct val="150000"/>
                        </a:lnSpc>
                      </a:pPr>
                      <a:r>
                        <a:rPr lang="en-IN" sz="2000" dirty="0"/>
                        <a:t>PROPOSED SYSTEM</a:t>
                      </a:r>
                    </a:p>
                  </a:txBody>
                  <a:tcPr/>
                </a:tc>
                <a:tc>
                  <a:txBody>
                    <a:bodyPr/>
                    <a:lstStyle/>
                    <a:p>
                      <a:pPr algn="ctr">
                        <a:lnSpc>
                          <a:spcPct val="150000"/>
                        </a:lnSpc>
                      </a:pPr>
                      <a:r>
                        <a:rPr lang="en-IN" sz="1800" dirty="0"/>
                        <a:t>METHODOLOGY</a:t>
                      </a:r>
                    </a:p>
                  </a:txBody>
                  <a:tcPr/>
                </a:tc>
                <a:tc>
                  <a:txBody>
                    <a:bodyPr/>
                    <a:lstStyle/>
                    <a:p>
                      <a:pPr algn="ctr">
                        <a:lnSpc>
                          <a:spcPct val="150000"/>
                        </a:lnSpc>
                      </a:pPr>
                      <a:r>
                        <a:rPr lang="en-IN" dirty="0"/>
                        <a:t>ADVANTAGES</a:t>
                      </a:r>
                    </a:p>
                  </a:txBody>
                  <a:tcPr/>
                </a:tc>
                <a:tc>
                  <a:txBody>
                    <a:bodyPr/>
                    <a:lstStyle/>
                    <a:p>
                      <a:pPr>
                        <a:lnSpc>
                          <a:spcPct val="150000"/>
                        </a:lnSpc>
                      </a:pPr>
                      <a:r>
                        <a:rPr lang="en-IN" dirty="0"/>
                        <a:t>DISADVANTAGES</a:t>
                      </a:r>
                    </a:p>
                  </a:txBody>
                  <a:tcPr/>
                </a:tc>
                <a:extLst>
                  <a:ext uri="{0D108BD9-81ED-4DB2-BD59-A6C34878D82A}">
                    <a16:rowId xmlns:a16="http://schemas.microsoft.com/office/drawing/2014/main" val="4141892868"/>
                  </a:ext>
                </a:extLst>
              </a:tr>
              <a:tr h="2291944">
                <a:tc>
                  <a:txBody>
                    <a:bodyPr/>
                    <a:lstStyle/>
                    <a:p>
                      <a:r>
                        <a:rPr lang="en-IN" sz="2000" dirty="0" err="1"/>
                        <a:t>Kapse</a:t>
                      </a:r>
                      <a:r>
                        <a:rPr lang="en-IN" sz="2000" dirty="0"/>
                        <a:t> Sagar Sudhakar &amp; </a:t>
                      </a:r>
                      <a:r>
                        <a:rPr lang="en-IN" sz="2000" dirty="0" err="1"/>
                        <a:t>Abhale</a:t>
                      </a:r>
                      <a:r>
                        <a:rPr lang="en-IN" sz="2000" dirty="0"/>
                        <a:t> Amol Anil</a:t>
                      </a:r>
                      <a:endParaRPr lang="en-IN" sz="2000" b="0" dirty="0"/>
                    </a:p>
                  </a:txBody>
                  <a:tcPr/>
                </a:tc>
                <a:tc>
                  <a:txBody>
                    <a:bodyPr/>
                    <a:lstStyle/>
                    <a:p>
                      <a:r>
                        <a:rPr lang="en-US" sz="2000" dirty="0"/>
                        <a:t>Manual work of street light by officers</a:t>
                      </a:r>
                      <a:endParaRPr lang="en-IN" sz="2000" dirty="0"/>
                    </a:p>
                  </a:txBody>
                  <a:tcPr/>
                </a:tc>
                <a:tc>
                  <a:txBody>
                    <a:bodyPr/>
                    <a:lstStyle/>
                    <a:p>
                      <a:r>
                        <a:rPr lang="en-US" sz="1800" b="0" i="0" kern="1200" dirty="0">
                          <a:solidFill>
                            <a:schemeClr val="tx1"/>
                          </a:solidFill>
                          <a:effectLst/>
                          <a:latin typeface="+mn-lt"/>
                          <a:ea typeface="+mn-ea"/>
                          <a:cs typeface="+mn-cs"/>
                        </a:rPr>
                        <a:t>street light control system using IR sensor and LDR</a:t>
                      </a:r>
                      <a:endParaRPr lang="en-IN" dirty="0"/>
                    </a:p>
                  </a:txBody>
                  <a:tcPr/>
                </a:tc>
                <a:tc>
                  <a:txBody>
                    <a:bodyPr/>
                    <a:lstStyle/>
                    <a:p>
                      <a:r>
                        <a:rPr lang="en-IN" dirty="0"/>
                        <a:t>IR,LDR are used with circuits for light control</a:t>
                      </a:r>
                    </a:p>
                  </a:txBody>
                  <a:tcPr/>
                </a:tc>
                <a:tc>
                  <a:txBody>
                    <a:bodyPr/>
                    <a:lstStyle/>
                    <a:p>
                      <a:r>
                        <a:rPr lang="en-US" sz="1800" b="0" i="0" kern="1200" dirty="0">
                          <a:solidFill>
                            <a:schemeClr val="tx1"/>
                          </a:solidFill>
                          <a:effectLst/>
                          <a:latin typeface="+mn-lt"/>
                          <a:ea typeface="+mn-ea"/>
                          <a:cs typeface="+mn-cs"/>
                        </a:rPr>
                        <a:t>In sunny and rainy days, ON and OFF time differ noticeably</a:t>
                      </a:r>
                      <a:endParaRPr lang="en-IN" dirty="0"/>
                    </a:p>
                  </a:txBody>
                  <a:tcPr/>
                </a:tc>
                <a:tc>
                  <a:txBody>
                    <a:bodyPr/>
                    <a:lstStyle/>
                    <a:p>
                      <a:r>
                        <a:rPr lang="en-US" sz="1800" b="0" i="0" kern="1200" dirty="0">
                          <a:solidFill>
                            <a:schemeClr val="tx1"/>
                          </a:solidFill>
                          <a:effectLst/>
                          <a:latin typeface="+mn-lt"/>
                          <a:ea typeface="+mn-ea"/>
                          <a:cs typeface="+mn-cs"/>
                        </a:rPr>
                        <a:t>Snow, dust or moisture effects the light control.</a:t>
                      </a:r>
                      <a:endParaRPr lang="en-IN" dirty="0"/>
                    </a:p>
                  </a:txBody>
                  <a:tcPr/>
                </a:tc>
                <a:extLst>
                  <a:ext uri="{0D108BD9-81ED-4DB2-BD59-A6C34878D82A}">
                    <a16:rowId xmlns:a16="http://schemas.microsoft.com/office/drawing/2014/main" val="3624640943"/>
                  </a:ext>
                </a:extLst>
              </a:tr>
            </a:tbl>
          </a:graphicData>
        </a:graphic>
      </p:graphicFrame>
    </p:spTree>
    <p:extLst>
      <p:ext uri="{BB962C8B-B14F-4D97-AF65-F5344CB8AC3E}">
        <p14:creationId xmlns:p14="http://schemas.microsoft.com/office/powerpoint/2010/main" val="3804552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0583E-A3DF-2BED-C912-64CA1273B01B}"/>
              </a:ext>
            </a:extLst>
          </p:cNvPr>
          <p:cNvSpPr>
            <a:spLocks noGrp="1"/>
          </p:cNvSpPr>
          <p:nvPr>
            <p:ph type="title"/>
          </p:nvPr>
        </p:nvSpPr>
        <p:spPr/>
        <p:txBody>
          <a:bodyPr>
            <a:normAutofit fontScale="90000"/>
          </a:bodyPr>
          <a:lstStyle/>
          <a:p>
            <a:r>
              <a:rPr lang="en-IN" dirty="0"/>
              <a:t>TITLE:</a:t>
            </a:r>
            <a:br>
              <a:rPr lang="en-IN" dirty="0"/>
            </a:br>
            <a:r>
              <a:rPr lang="en-US" sz="2700" dirty="0"/>
              <a:t>A Dynamic And Automatic Traffic Light Control System For Solving The Road Congestion Problem</a:t>
            </a:r>
            <a:endParaRPr lang="en-IN" sz="2700" dirty="0"/>
          </a:p>
        </p:txBody>
      </p:sp>
      <p:graphicFrame>
        <p:nvGraphicFramePr>
          <p:cNvPr id="4" name="Table 3">
            <a:extLst>
              <a:ext uri="{FF2B5EF4-FFF2-40B4-BE49-F238E27FC236}">
                <a16:creationId xmlns:a16="http://schemas.microsoft.com/office/drawing/2014/main" id="{41BEDBAB-C35D-C202-20D3-07D1BAE88660}"/>
              </a:ext>
            </a:extLst>
          </p:cNvPr>
          <p:cNvGraphicFramePr>
            <a:graphicFrameLocks noGrp="1"/>
          </p:cNvGraphicFramePr>
          <p:nvPr>
            <p:extLst>
              <p:ext uri="{D42A27DB-BD31-4B8C-83A1-F6EECF244321}">
                <p14:modId xmlns:p14="http://schemas.microsoft.com/office/powerpoint/2010/main" val="3367768295"/>
              </p:ext>
            </p:extLst>
          </p:nvPr>
        </p:nvGraphicFramePr>
        <p:xfrm>
          <a:off x="724301" y="2367179"/>
          <a:ext cx="10976008" cy="3812239"/>
        </p:xfrm>
        <a:graphic>
          <a:graphicData uri="http://schemas.openxmlformats.org/drawingml/2006/table">
            <a:tbl>
              <a:tblPr firstRow="1" bandRow="1">
                <a:tableStyleId>{5940675A-B579-460E-94D1-54222C63F5DA}</a:tableStyleId>
              </a:tblPr>
              <a:tblGrid>
                <a:gridCol w="2733575">
                  <a:extLst>
                    <a:ext uri="{9D8B030D-6E8A-4147-A177-3AD203B41FA5}">
                      <a16:colId xmlns:a16="http://schemas.microsoft.com/office/drawing/2014/main" val="2210652161"/>
                    </a:ext>
                  </a:extLst>
                </a:gridCol>
                <a:gridCol w="1796257">
                  <a:extLst>
                    <a:ext uri="{9D8B030D-6E8A-4147-A177-3AD203B41FA5}">
                      <a16:colId xmlns:a16="http://schemas.microsoft.com/office/drawing/2014/main" val="1077880448"/>
                    </a:ext>
                  </a:extLst>
                </a:gridCol>
                <a:gridCol w="1611544">
                  <a:extLst>
                    <a:ext uri="{9D8B030D-6E8A-4147-A177-3AD203B41FA5}">
                      <a16:colId xmlns:a16="http://schemas.microsoft.com/office/drawing/2014/main" val="737668298"/>
                    </a:ext>
                  </a:extLst>
                </a:gridCol>
                <a:gridCol w="1542793">
                  <a:extLst>
                    <a:ext uri="{9D8B030D-6E8A-4147-A177-3AD203B41FA5}">
                      <a16:colId xmlns:a16="http://schemas.microsoft.com/office/drawing/2014/main" val="247862536"/>
                    </a:ext>
                  </a:extLst>
                </a:gridCol>
                <a:gridCol w="1680295">
                  <a:extLst>
                    <a:ext uri="{9D8B030D-6E8A-4147-A177-3AD203B41FA5}">
                      <a16:colId xmlns:a16="http://schemas.microsoft.com/office/drawing/2014/main" val="3921272396"/>
                    </a:ext>
                  </a:extLst>
                </a:gridCol>
                <a:gridCol w="1611544">
                  <a:extLst>
                    <a:ext uri="{9D8B030D-6E8A-4147-A177-3AD203B41FA5}">
                      <a16:colId xmlns:a16="http://schemas.microsoft.com/office/drawing/2014/main" val="439716292"/>
                    </a:ext>
                  </a:extLst>
                </a:gridCol>
              </a:tblGrid>
              <a:tr h="1520295">
                <a:tc>
                  <a:txBody>
                    <a:bodyPr/>
                    <a:lstStyle/>
                    <a:p>
                      <a:pPr algn="ctr">
                        <a:lnSpc>
                          <a:spcPct val="150000"/>
                        </a:lnSpc>
                      </a:pPr>
                      <a:r>
                        <a:rPr lang="en-IN" sz="2000" dirty="0"/>
                        <a:t>AUTHORS AND YEAR</a:t>
                      </a:r>
                    </a:p>
                  </a:txBody>
                  <a:tcPr/>
                </a:tc>
                <a:tc>
                  <a:txBody>
                    <a:bodyPr/>
                    <a:lstStyle/>
                    <a:p>
                      <a:pPr algn="ctr">
                        <a:lnSpc>
                          <a:spcPct val="150000"/>
                        </a:lnSpc>
                      </a:pPr>
                      <a:r>
                        <a:rPr lang="en-IN" sz="2000" dirty="0"/>
                        <a:t>EXISTING SYSTEM</a:t>
                      </a:r>
                    </a:p>
                  </a:txBody>
                  <a:tcPr/>
                </a:tc>
                <a:tc>
                  <a:txBody>
                    <a:bodyPr/>
                    <a:lstStyle/>
                    <a:p>
                      <a:pPr algn="ctr">
                        <a:lnSpc>
                          <a:spcPct val="150000"/>
                        </a:lnSpc>
                      </a:pPr>
                      <a:r>
                        <a:rPr lang="en-IN" sz="2000" dirty="0"/>
                        <a:t>PROPOSED SYSTEM</a:t>
                      </a:r>
                    </a:p>
                  </a:txBody>
                  <a:tcPr/>
                </a:tc>
                <a:tc>
                  <a:txBody>
                    <a:bodyPr/>
                    <a:lstStyle/>
                    <a:p>
                      <a:pPr algn="ctr">
                        <a:lnSpc>
                          <a:spcPct val="150000"/>
                        </a:lnSpc>
                      </a:pPr>
                      <a:r>
                        <a:rPr lang="en-IN" sz="1800" dirty="0"/>
                        <a:t>METHODOLOGY</a:t>
                      </a:r>
                    </a:p>
                  </a:txBody>
                  <a:tcPr/>
                </a:tc>
                <a:tc>
                  <a:txBody>
                    <a:bodyPr/>
                    <a:lstStyle/>
                    <a:p>
                      <a:pPr algn="ctr">
                        <a:lnSpc>
                          <a:spcPct val="150000"/>
                        </a:lnSpc>
                      </a:pPr>
                      <a:r>
                        <a:rPr lang="en-IN" dirty="0"/>
                        <a:t>ADVANTAGES</a:t>
                      </a:r>
                    </a:p>
                  </a:txBody>
                  <a:tcPr/>
                </a:tc>
                <a:tc>
                  <a:txBody>
                    <a:bodyPr/>
                    <a:lstStyle/>
                    <a:p>
                      <a:pPr>
                        <a:lnSpc>
                          <a:spcPct val="150000"/>
                        </a:lnSpc>
                      </a:pPr>
                      <a:r>
                        <a:rPr lang="en-IN" dirty="0"/>
                        <a:t>DISADVANTAGES</a:t>
                      </a:r>
                    </a:p>
                  </a:txBody>
                  <a:tcPr/>
                </a:tc>
                <a:extLst>
                  <a:ext uri="{0D108BD9-81ED-4DB2-BD59-A6C34878D82A}">
                    <a16:rowId xmlns:a16="http://schemas.microsoft.com/office/drawing/2014/main" val="2537209310"/>
                  </a:ext>
                </a:extLst>
              </a:tr>
              <a:tr h="2291944">
                <a:tc>
                  <a:txBody>
                    <a:bodyPr/>
                    <a:lstStyle/>
                    <a:p>
                      <a:r>
                        <a:rPr lang="nl-NL" sz="1800" b="0" i="0" kern="1200" dirty="0">
                          <a:solidFill>
                            <a:schemeClr val="tx1"/>
                          </a:solidFill>
                          <a:effectLst/>
                          <a:latin typeface="+mn-lt"/>
                          <a:ea typeface="+mn-ea"/>
                          <a:cs typeface="+mn-cs"/>
                        </a:rPr>
                        <a:t>W. Wen &amp; C. L. Yang</a:t>
                      </a:r>
                      <a:endParaRPr lang="en-IN" sz="2000" b="0" dirty="0"/>
                    </a:p>
                  </a:txBody>
                  <a:tcPr/>
                </a:tc>
                <a:tc>
                  <a:txBody>
                    <a:bodyPr/>
                    <a:lstStyle/>
                    <a:p>
                      <a:r>
                        <a:rPr lang="en-IN" sz="2000" dirty="0"/>
                        <a:t>Based on timer traffic signal changes</a:t>
                      </a:r>
                    </a:p>
                  </a:txBody>
                  <a:tcPr/>
                </a:tc>
                <a:tc>
                  <a:txBody>
                    <a:bodyPr/>
                    <a:lstStyle/>
                    <a:p>
                      <a:r>
                        <a:rPr lang="en-US" sz="1800" b="0" i="0" kern="1200" dirty="0">
                          <a:solidFill>
                            <a:schemeClr val="tx1"/>
                          </a:solidFill>
                          <a:effectLst/>
                          <a:latin typeface="+mn-lt"/>
                          <a:ea typeface="+mn-ea"/>
                          <a:cs typeface="+mn-cs"/>
                        </a:rPr>
                        <a:t>A model coded in Arena to help design the system</a:t>
                      </a:r>
                      <a:endParaRPr lang="en-IN" dirty="0"/>
                    </a:p>
                  </a:txBody>
                  <a:tcPr/>
                </a:tc>
                <a:tc>
                  <a:txBody>
                    <a:bodyPr/>
                    <a:lstStyle/>
                    <a:p>
                      <a:r>
                        <a:rPr lang="en-US" sz="1800" b="0" i="0" kern="1200" dirty="0">
                          <a:solidFill>
                            <a:schemeClr val="tx1"/>
                          </a:solidFill>
                          <a:effectLst/>
                          <a:latin typeface="+mn-lt"/>
                          <a:ea typeface="+mn-ea"/>
                          <a:cs typeface="+mn-cs"/>
                        </a:rPr>
                        <a:t>Adopts average arrival time and departure times</a:t>
                      </a:r>
                      <a:endParaRPr lang="en-IN" sz="1800" dirty="0"/>
                    </a:p>
                  </a:txBody>
                  <a:tcPr/>
                </a:tc>
                <a:tc>
                  <a:txBody>
                    <a:bodyPr/>
                    <a:lstStyle/>
                    <a:p>
                      <a:r>
                        <a:rPr lang="en-IN" dirty="0"/>
                        <a:t>Congestion Problem of traffic is reduced to great number</a:t>
                      </a:r>
                    </a:p>
                  </a:txBody>
                  <a:tcPr/>
                </a:tc>
                <a:tc>
                  <a:txBody>
                    <a:bodyPr/>
                    <a:lstStyle/>
                    <a:p>
                      <a:r>
                        <a:rPr lang="en-IN" dirty="0"/>
                        <a:t>Very expensive and experts needed</a:t>
                      </a:r>
                    </a:p>
                  </a:txBody>
                  <a:tcPr/>
                </a:tc>
                <a:extLst>
                  <a:ext uri="{0D108BD9-81ED-4DB2-BD59-A6C34878D82A}">
                    <a16:rowId xmlns:a16="http://schemas.microsoft.com/office/drawing/2014/main" val="838907498"/>
                  </a:ext>
                </a:extLst>
              </a:tr>
            </a:tbl>
          </a:graphicData>
        </a:graphic>
      </p:graphicFrame>
    </p:spTree>
    <p:extLst>
      <p:ext uri="{BB962C8B-B14F-4D97-AF65-F5344CB8AC3E}">
        <p14:creationId xmlns:p14="http://schemas.microsoft.com/office/powerpoint/2010/main" val="11622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55384-3C60-6D79-3AA5-4E9642BDDF34}"/>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EB8A2333-E174-5563-4F7E-55A8CC68514A}"/>
              </a:ext>
            </a:extLst>
          </p:cNvPr>
          <p:cNvSpPr>
            <a:spLocks noGrp="1"/>
          </p:cNvSpPr>
          <p:nvPr>
            <p:ph idx="1"/>
          </p:nvPr>
        </p:nvSpPr>
        <p:spPr/>
        <p:txBody>
          <a:bodyPr>
            <a:normAutofit lnSpcReduction="10000"/>
          </a:bodyPr>
          <a:lstStyle/>
          <a:p>
            <a:endParaRPr lang="en-US" sz="3000" dirty="0"/>
          </a:p>
          <a:p>
            <a:pPr marL="0" indent="0" algn="just">
              <a:buNone/>
            </a:pPr>
            <a:r>
              <a:rPr lang="en-US" sz="3500" dirty="0"/>
              <a:t>The best method is implemented which is effective and efficient lighting control system which controls room’s intensity and counts the number of people in the room and the software and hardware requirements are implemented, using DC motor the room’s window blind’s are controlled which helps in reduce electronic wastage by using natural light respectively.</a:t>
            </a:r>
            <a:endParaRPr lang="en-IN" sz="3500" dirty="0"/>
          </a:p>
        </p:txBody>
      </p:sp>
    </p:spTree>
    <p:extLst>
      <p:ext uri="{BB962C8B-B14F-4D97-AF65-F5344CB8AC3E}">
        <p14:creationId xmlns:p14="http://schemas.microsoft.com/office/powerpoint/2010/main" val="1876844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4B02E-86B4-4BE9-5002-C25372AC436C}"/>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47665D28-322C-46C9-97CF-AE5FE1759E84}"/>
              </a:ext>
            </a:extLst>
          </p:cNvPr>
          <p:cNvSpPr>
            <a:spLocks noGrp="1"/>
          </p:cNvSpPr>
          <p:nvPr>
            <p:ph idx="1"/>
          </p:nvPr>
        </p:nvSpPr>
        <p:spPr/>
        <p:txBody>
          <a:bodyPr>
            <a:normAutofit/>
          </a:bodyPr>
          <a:lstStyle/>
          <a:p>
            <a:r>
              <a:rPr lang="en-IN" sz="3000" b="1" dirty="0"/>
              <a:t>Thomas L.F </a:t>
            </a:r>
            <a:r>
              <a:rPr lang="en-IN" sz="3000" dirty="0"/>
              <a:t>(2008) Electronic Device.8th Edition. New Jersey: Prentice Hall</a:t>
            </a:r>
          </a:p>
          <a:p>
            <a:r>
              <a:rPr lang="en-IN" sz="3000" b="1" dirty="0" err="1"/>
              <a:t>Rudiger</a:t>
            </a:r>
            <a:r>
              <a:rPr lang="en-IN" sz="3000" b="1" dirty="0"/>
              <a:t> </a:t>
            </a:r>
            <a:r>
              <a:rPr lang="en-IN" sz="3000" b="1" dirty="0" err="1"/>
              <a:t>Ganslandt</a:t>
            </a:r>
            <a:r>
              <a:rPr lang="en-IN" sz="3000" b="1" dirty="0"/>
              <a:t> and Harald Hofmann </a:t>
            </a:r>
            <a:r>
              <a:rPr lang="en-IN" sz="3000" dirty="0"/>
              <a:t>(1992), Handbook of Lighting Design, </a:t>
            </a:r>
            <a:r>
              <a:rPr lang="en-IN" sz="3000" dirty="0" err="1"/>
              <a:t>Erco</a:t>
            </a:r>
            <a:r>
              <a:rPr lang="en-IN" sz="3000" dirty="0"/>
              <a:t> Edition. Germany: Verlag </a:t>
            </a:r>
            <a:r>
              <a:rPr lang="en-IN" sz="3000" dirty="0" err="1"/>
              <a:t>Vieweg</a:t>
            </a:r>
            <a:r>
              <a:rPr lang="en-IN" sz="3000" dirty="0"/>
              <a:t>.</a:t>
            </a:r>
          </a:p>
          <a:p>
            <a:r>
              <a:rPr lang="en-IN" sz="3000" b="1" dirty="0"/>
              <a:t>Derek Philips </a:t>
            </a:r>
            <a:r>
              <a:rPr lang="en-IN" sz="3000" dirty="0"/>
              <a:t>(2000), Lighting Modern Buildings, Woburn: Architectural Press.</a:t>
            </a:r>
          </a:p>
          <a:p>
            <a:r>
              <a:rPr lang="en-IN" sz="3000" dirty="0"/>
              <a:t>Wikipedia, the free </a:t>
            </a:r>
            <a:r>
              <a:rPr lang="en-IN" sz="3000" dirty="0" err="1"/>
              <a:t>encyclopedia</a:t>
            </a:r>
            <a:r>
              <a:rPr lang="en-IN" sz="3000" dirty="0"/>
              <a:t>.</a:t>
            </a:r>
          </a:p>
        </p:txBody>
      </p:sp>
    </p:spTree>
    <p:extLst>
      <p:ext uri="{BB962C8B-B14F-4D97-AF65-F5344CB8AC3E}">
        <p14:creationId xmlns:p14="http://schemas.microsoft.com/office/powerpoint/2010/main" val="2874891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513E5-67B7-41CD-8D36-038DDD3DA68D}"/>
              </a:ext>
            </a:extLst>
          </p:cNvPr>
          <p:cNvSpPr>
            <a:spLocks noGrp="1"/>
          </p:cNvSpPr>
          <p:nvPr>
            <p:ph type="title"/>
          </p:nvPr>
        </p:nvSpPr>
        <p:spPr>
          <a:xfrm>
            <a:off x="1161447" y="644892"/>
            <a:ext cx="10433785" cy="5717406"/>
          </a:xfrm>
        </p:spPr>
        <p:txBody>
          <a:bodyPr>
            <a:normAutofit/>
          </a:bodyPr>
          <a:lstStyle/>
          <a:p>
            <a:r>
              <a:rPr lang="en-IN" sz="9600" dirty="0"/>
              <a:t>ANY QUERIES?</a:t>
            </a:r>
          </a:p>
        </p:txBody>
      </p:sp>
      <p:pic>
        <p:nvPicPr>
          <p:cNvPr id="5" name="Graphic 4" descr="Questions">
            <a:extLst>
              <a:ext uri="{FF2B5EF4-FFF2-40B4-BE49-F238E27FC236}">
                <a16:creationId xmlns:a16="http://schemas.microsoft.com/office/drawing/2014/main" id="{B5021CA7-79A4-42CF-9EE0-802ECC1EB4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6768" y="4463716"/>
            <a:ext cx="2233060" cy="2233060"/>
          </a:xfrm>
          <a:prstGeom prst="rect">
            <a:avLst/>
          </a:prstGeom>
        </p:spPr>
      </p:pic>
    </p:spTree>
    <p:extLst>
      <p:ext uri="{BB962C8B-B14F-4D97-AF65-F5344CB8AC3E}">
        <p14:creationId xmlns:p14="http://schemas.microsoft.com/office/powerpoint/2010/main" val="267262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93440-55BE-4B2F-9FAF-029A12990DE5}"/>
              </a:ext>
            </a:extLst>
          </p:cNvPr>
          <p:cNvSpPr>
            <a:spLocks noGrp="1"/>
          </p:cNvSpPr>
          <p:nvPr>
            <p:ph type="title"/>
          </p:nvPr>
        </p:nvSpPr>
        <p:spPr>
          <a:xfrm>
            <a:off x="-115503" y="924026"/>
            <a:ext cx="9904396" cy="4668252"/>
          </a:xfrm>
        </p:spPr>
        <p:txBody>
          <a:bodyPr>
            <a:normAutofit/>
          </a:bodyPr>
          <a:lstStyle/>
          <a:p>
            <a:r>
              <a:rPr lang="en-IN" sz="9600" dirty="0"/>
              <a:t>H  NK YOU</a:t>
            </a:r>
          </a:p>
        </p:txBody>
      </p:sp>
      <p:pic>
        <p:nvPicPr>
          <p:cNvPr id="10" name="Graphic 9" descr="Lightbulb">
            <a:extLst>
              <a:ext uri="{FF2B5EF4-FFF2-40B4-BE49-F238E27FC236}">
                <a16:creationId xmlns:a16="http://schemas.microsoft.com/office/drawing/2014/main" id="{E90EC641-4956-46C2-A599-08C12C85D1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22029" y="4465320"/>
            <a:ext cx="1740569" cy="1740569"/>
          </a:xfrm>
          <a:prstGeom prst="rect">
            <a:avLst/>
          </a:prstGeom>
        </p:spPr>
      </p:pic>
      <p:pic>
        <p:nvPicPr>
          <p:cNvPr id="12" name="Graphic 11" descr="Lamp">
            <a:extLst>
              <a:ext uri="{FF2B5EF4-FFF2-40B4-BE49-F238E27FC236}">
                <a16:creationId xmlns:a16="http://schemas.microsoft.com/office/drawing/2014/main" id="{A57214D2-D690-4012-8246-F7427D1E37A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50695" y="2353377"/>
            <a:ext cx="1395664" cy="1395664"/>
          </a:xfrm>
          <a:prstGeom prst="rect">
            <a:avLst/>
          </a:prstGeom>
        </p:spPr>
      </p:pic>
      <p:pic>
        <p:nvPicPr>
          <p:cNvPr id="4" name="Graphic 3" descr="Home">
            <a:extLst>
              <a:ext uri="{FF2B5EF4-FFF2-40B4-BE49-F238E27FC236}">
                <a16:creationId xmlns:a16="http://schemas.microsoft.com/office/drawing/2014/main" id="{FDE95954-7F42-4788-953F-CF7837E4804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79495" y="2435192"/>
            <a:ext cx="914400" cy="1395664"/>
          </a:xfrm>
          <a:prstGeom prst="rect">
            <a:avLst/>
          </a:prstGeom>
        </p:spPr>
      </p:pic>
    </p:spTree>
    <p:extLst>
      <p:ext uri="{BB962C8B-B14F-4D97-AF65-F5344CB8AC3E}">
        <p14:creationId xmlns:p14="http://schemas.microsoft.com/office/powerpoint/2010/main" val="13570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10BEB954-4024-4CCF-A9D6-4C00FDC028D9}">
  <ds:schemaRefs>
    <ds:schemaRef ds:uri="http://schemas.microsoft.com/sharepoint/v3/contenttype/forms"/>
  </ds:schemaRefs>
</ds:datastoreItem>
</file>

<file path=customXml/itemProps2.xml><?xml version="1.0" encoding="utf-8"?>
<ds:datastoreItem xmlns:ds="http://schemas.openxmlformats.org/officeDocument/2006/customXml" ds:itemID="{AB96CC85-5758-41C0-8EFD-737AFB6912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10EE66-8707-456F-8F2E-091D581CB03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Vapor Trail design</Template>
  <TotalTime>914</TotalTime>
  <Words>812</Words>
  <Application>Microsoft Office PowerPoint</Application>
  <PresentationFormat>Widescreen</PresentationFormat>
  <Paragraphs>139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Century Gothic</vt:lpstr>
      <vt:lpstr>Vapor Trail</vt:lpstr>
      <vt:lpstr>SMART POWER SAVING BASED ON OCCUPANCY INDICATOR </vt:lpstr>
      <vt:lpstr>OUTLINE</vt:lpstr>
      <vt:lpstr>ABSTRACT</vt:lpstr>
      <vt:lpstr>PowerPoint Presentation</vt:lpstr>
      <vt:lpstr>PROBLEMS</vt:lpstr>
      <vt:lpstr>LITERATURE Survey</vt:lpstr>
      <vt:lpstr>LITERATURE SURVEY</vt:lpstr>
      <vt:lpstr>OBJECTIVE OF THE EXISTING SYSTEM</vt:lpstr>
      <vt:lpstr>DISADVANTAGES OF EXISTING SYSTEM</vt:lpstr>
      <vt:lpstr>Objective of proposed system</vt:lpstr>
      <vt:lpstr>ADVANTAGES OF PROPOSED SYSTEM</vt:lpstr>
      <vt:lpstr>HARDWARE IMPLEMENTATION</vt:lpstr>
      <vt:lpstr>SOFTWARE IMPLEMENTATION</vt:lpstr>
      <vt:lpstr>PowerPoint Presentation</vt:lpstr>
      <vt:lpstr>TITLE: Automatic Street Light Control System</vt:lpstr>
      <vt:lpstr>TITLE: A Dynamic And Automatic Traffic Light Control System For Solving The Road Congestion Problem</vt:lpstr>
      <vt:lpstr>CONCLUSION</vt:lpstr>
      <vt:lpstr>REFERENCES</vt:lpstr>
      <vt:lpstr>ANY QUERIES?</vt:lpstr>
      <vt:lpstr>H  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 LIGHT INTENSITY DETECTION AND CONTROL</dc:title>
  <dc:creator>G HARSHITHA</dc:creator>
  <cp:lastModifiedBy>G HARSHITHA</cp:lastModifiedBy>
  <cp:revision>32</cp:revision>
  <dcterms:created xsi:type="dcterms:W3CDTF">2022-04-14T18:22:40Z</dcterms:created>
  <dcterms:modified xsi:type="dcterms:W3CDTF">2022-05-09T05:29:22Z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